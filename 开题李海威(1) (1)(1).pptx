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  <p:sldMasterId id="2147483673" r:id="rId4"/>
  </p:sldMasterIdLst>
  <p:notesMasterIdLst>
    <p:notesMasterId r:id="rId9"/>
  </p:notesMasterIdLst>
  <p:sldIdLst>
    <p:sldId id="310" r:id="rId5"/>
    <p:sldId id="314" r:id="rId6"/>
    <p:sldId id="315" r:id="rId7"/>
    <p:sldId id="11088665" r:id="rId8"/>
    <p:sldId id="11088666" r:id="rId10"/>
    <p:sldId id="11088671" r:id="rId11"/>
    <p:sldId id="11088668" r:id="rId12"/>
    <p:sldId id="330" r:id="rId13"/>
    <p:sldId id="11088669" r:id="rId14"/>
    <p:sldId id="333" r:id="rId15"/>
    <p:sldId id="11088670" r:id="rId16"/>
    <p:sldId id="358" r:id="rId17"/>
    <p:sldId id="367" r:id="rId18"/>
  </p:sldIdLst>
  <p:sldSz cx="12192000" cy="6858000"/>
  <p:notesSz cx="6858000" cy="9144000"/>
  <p:embeddedFontLst>
    <p:embeddedFont>
      <p:font typeface="微软雅黑" panose="020B0503020204020204" pitchFamily="34" charset="-122"/>
      <p:regular r:id="rId22"/>
    </p:embeddedFont>
    <p:embeddedFont>
      <p:font typeface="微软雅黑 Light" panose="020B0502040204020203" pitchFamily="34" charset="-122"/>
      <p:regular r:id="rId23"/>
    </p:embeddedFont>
    <p:embeddedFont>
      <p:font typeface="方正小标宋简体" panose="02000000000000000000" pitchFamily="65" charset="-122"/>
      <p:regular r:id="rId24"/>
    </p:embeddedFont>
    <p:embeddedFont>
      <p:font typeface="等线" panose="02010600030101010101" charset="-122"/>
      <p:regular r:id="rId25"/>
    </p:embeddedFont>
    <p:embeddedFont>
      <p:font typeface="等线 Light" panose="02010600030101010101" charset="-122"/>
      <p:regular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2112B-A973-4EDF-A766-7A351381CE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59658-7FD7-43F4-A84D-41184239C90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1) </a:t>
            </a:r>
            <a:r>
              <a:rPr dirty="0" err="1"/>
              <a:t>速度差导致逐帧比对失效（需要非线性对齐</a:t>
            </a:r>
            <a:r>
              <a:rPr dirty="0"/>
              <a:t>）；2) </a:t>
            </a:r>
            <a:r>
              <a:rPr dirty="0" err="1"/>
              <a:t>关键点在非受控环境下抖动</a:t>
            </a:r>
            <a:r>
              <a:rPr dirty="0"/>
              <a:t>/</a:t>
            </a:r>
            <a:r>
              <a:rPr dirty="0" err="1"/>
              <a:t>丢点（需要鲁棒处理</a:t>
            </a:r>
            <a:r>
              <a:rPr dirty="0"/>
              <a:t>）；3) </a:t>
            </a:r>
            <a:r>
              <a:rPr dirty="0" err="1"/>
              <a:t>教学需要可解释定位（Segment+Joint</a:t>
            </a:r>
            <a:r>
              <a:rPr dirty="0"/>
              <a:t>）。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① </a:t>
            </a:r>
            <a:r>
              <a:rPr dirty="0" err="1"/>
              <a:t>姿态估计把视频变成骨架，但非受控环境下抖动</a:t>
            </a:r>
            <a:r>
              <a:rPr dirty="0"/>
              <a:t>/</a:t>
            </a:r>
            <a:r>
              <a:rPr dirty="0" err="1"/>
              <a:t>丢点是关键问题</a:t>
            </a:r>
            <a:r>
              <a:rPr dirty="0"/>
              <a:t>；② </a:t>
            </a:r>
            <a:r>
              <a:rPr dirty="0" err="1"/>
              <a:t>动作对比核心在时序对齐，线性拉伸不行，需要受约束DTW解决速度差并输出节奏信息</a:t>
            </a:r>
            <a:r>
              <a:rPr dirty="0"/>
              <a:t>；③ AQA很多只给总分，教学需要Segment+Joint级解释。最后指右侧框：本课题用轻量鲁棒输入+受约束DTW+细粒度归因，并做成可演示系统闭环。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输入视频→关键点→特征→DTW对齐→误差</a:t>
            </a:r>
            <a:r>
              <a:rPr dirty="0"/>
              <a:t>/</a:t>
            </a:r>
            <a:r>
              <a:rPr dirty="0" err="1"/>
              <a:t>节奏→产物→前端展示</a:t>
            </a:r>
            <a:r>
              <a:rPr dirty="0"/>
              <a:t>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1) </a:t>
            </a:r>
            <a:r>
              <a:rPr dirty="0" err="1"/>
              <a:t>特征怎么做（坐标+向量+角度，置信度过滤与平滑</a:t>
            </a:r>
            <a:r>
              <a:rPr dirty="0"/>
              <a:t>）；2) </a:t>
            </a:r>
            <a:r>
              <a:rPr dirty="0" err="1"/>
              <a:t>DTW怎么改（窗口</a:t>
            </a:r>
            <a:r>
              <a:rPr dirty="0"/>
              <a:t>/</a:t>
            </a:r>
            <a:r>
              <a:rPr dirty="0" err="1"/>
              <a:t>斜率约束防过度扭曲</a:t>
            </a:r>
            <a:r>
              <a:rPr dirty="0"/>
              <a:t>）；3) </a:t>
            </a:r>
            <a:r>
              <a:rPr dirty="0" err="1"/>
              <a:t>评分怎么定义（空间+节奏加权，并输出Top‑K关节与片段建议</a:t>
            </a:r>
            <a:r>
              <a:rPr dirty="0"/>
              <a:t>）。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按时间轴从左到右：前期完成基线与数据格式；开题后冻结需求和接口；3月做DTW对齐Demo验证；4月上旬前后端联调实现叠加回放；4月下旬做多样本与遮挡稳定性优化；5月压力测试并完成论文初稿；6月定稿答辩提交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D3BC39-7926-4614-A368-31D1FE4F145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B13B15C-67A8-414C-B413-BB837E62DE39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D3BC39-7926-4614-A368-31D1FE4F145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B13B15C-67A8-414C-B413-BB837E62DE39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0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7.png"/><Relationship Id="rId3" Type="http://schemas.microsoft.com/office/2007/relationships/hdphoto" Target="../media/image11.wdp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9.png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18.xml"/><Relationship Id="rId2" Type="http://schemas.openxmlformats.org/officeDocument/2006/relationships/image" Target="../media/image7.png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0" b="34927"/>
          <a:stretch>
            <a:fillRect/>
          </a:stretch>
        </p:blipFill>
        <p:spPr>
          <a:xfrm>
            <a:off x="-2" y="0"/>
            <a:ext cx="12192002" cy="5057758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-5500" y="-27758"/>
            <a:ext cx="12192000" cy="5013703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Regular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877" y="-291771"/>
            <a:ext cx="3455246" cy="3455246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1841090" y="2491047"/>
            <a:ext cx="8648521" cy="22144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基于视频分析的舞蹈学习</a:t>
            </a:r>
            <a:endParaRPr kumimoji="1" lang="en-US" altLang="zh-CN" sz="60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辅助平台设计与开发</a:t>
            </a:r>
            <a:endParaRPr kumimoji="1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8" name="直线连接符 77"/>
          <p:cNvCxnSpPr/>
          <p:nvPr/>
        </p:nvCxnSpPr>
        <p:spPr>
          <a:xfrm flipH="1">
            <a:off x="-1" y="5041255"/>
            <a:ext cx="12192001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圆角矩形 190"/>
          <p:cNvSpPr/>
          <p:nvPr/>
        </p:nvSpPr>
        <p:spPr>
          <a:xfrm>
            <a:off x="2217774" y="5727356"/>
            <a:ext cx="1769103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 </a:t>
            </a:r>
            <a:r>
              <a:rPr kumimoji="1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李海威</a:t>
            </a:r>
            <a:endParaRPr kumimoji="1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圆角矩形 192"/>
          <p:cNvSpPr/>
          <p:nvPr/>
        </p:nvSpPr>
        <p:spPr>
          <a:xfrm>
            <a:off x="4922287" y="5727356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指导老师 </a:t>
            </a:r>
            <a:r>
              <a:rPr kumimoji="1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胡映天 </a:t>
            </a:r>
            <a:endParaRPr kumimoji="1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圆角矩形 193"/>
          <p:cNvSpPr/>
          <p:nvPr/>
        </p:nvSpPr>
        <p:spPr>
          <a:xfrm>
            <a:off x="7853888" y="5727356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单位</a:t>
            </a:r>
            <a:r>
              <a:rPr kumimoji="1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信息工程学院</a:t>
            </a: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947300" y="4710756"/>
            <a:ext cx="2297403" cy="638773"/>
          </a:xfrm>
          <a:prstGeom prst="rect">
            <a:avLst/>
          </a:prstGeom>
          <a:solidFill>
            <a:srgbClr val="F6D9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9" name="直角三角形 98"/>
          <p:cNvSpPr/>
          <p:nvPr/>
        </p:nvSpPr>
        <p:spPr>
          <a:xfrm>
            <a:off x="7241927" y="4700241"/>
            <a:ext cx="91883" cy="291083"/>
          </a:xfrm>
          <a:prstGeom prst="rtTriangle">
            <a:avLst/>
          </a:prstGeom>
          <a:solidFill>
            <a:srgbClr val="D6A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直角三角形 99"/>
          <p:cNvSpPr/>
          <p:nvPr/>
        </p:nvSpPr>
        <p:spPr>
          <a:xfrm flipH="1">
            <a:off x="4852688" y="4708917"/>
            <a:ext cx="91883" cy="291083"/>
          </a:xfrm>
          <a:prstGeom prst="rtTriangle">
            <a:avLst/>
          </a:prstGeom>
          <a:solidFill>
            <a:srgbClr val="D6A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2"/>
          <a:stretch>
            <a:fillRect/>
          </a:stretch>
        </p:blipFill>
        <p:spPr>
          <a:xfrm>
            <a:off x="5300628" y="4780745"/>
            <a:ext cx="1585242" cy="468532"/>
          </a:xfrm>
          <a:prstGeom prst="rect">
            <a:avLst/>
          </a:prstGeom>
        </p:spPr>
      </p:pic>
      <p:sp>
        <p:nvSpPr>
          <p:cNvPr id="15" name="副标题 2"/>
          <p:cNvSpPr txBox="1"/>
          <p:nvPr/>
        </p:nvSpPr>
        <p:spPr>
          <a:xfrm>
            <a:off x="2452443" y="6400304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  </a:t>
            </a:r>
            <a:r>
              <a: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</a:t>
            </a:r>
            <a:endParaRPr kumimoji="0" lang="zh-CN" altLang="en-US" sz="1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2000000000000000000" pitchFamily="65" charset="-122"/>
              <a:ea typeface="方正小标宋简体" panose="02000000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19545" y="581893"/>
            <a:ext cx="11170227" cy="5537554"/>
          </a:xfrm>
          <a:prstGeom prst="rect">
            <a:avLst/>
          </a:prstGeom>
          <a:noFill/>
          <a:ln w="101600" cap="flat" cmpd="sng" algn="ctr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Regular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899544" y="2189946"/>
            <a:ext cx="1415772" cy="30626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E9C79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</a:t>
            </a:r>
            <a:r>
              <a:rPr kumimoji="1" lang="en-US" altLang="zh-CN" sz="8000" b="1" i="0" u="none" strike="noStrike" kern="1200" cap="none" spc="0" normalizeH="0" baseline="0" noProof="0" dirty="0">
                <a:ln>
                  <a:noFill/>
                </a:ln>
                <a:solidFill>
                  <a:srgbClr val="E9C79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r>
              <a:rPr kumimoji="1" lang="zh-CN" alt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E9C79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录</a:t>
            </a:r>
            <a:endParaRPr kumimoji="1" lang="zh-CN" altLang="en-US" sz="8000" b="1" i="0" u="none" strike="noStrike" kern="1200" cap="none" spc="0" normalizeH="0" baseline="0" noProof="0" dirty="0">
              <a:ln>
                <a:noFill/>
              </a:ln>
              <a:solidFill>
                <a:srgbClr val="E9C79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任意形状 81"/>
          <p:cNvSpPr/>
          <p:nvPr/>
        </p:nvSpPr>
        <p:spPr>
          <a:xfrm>
            <a:off x="1743756" y="1884074"/>
            <a:ext cx="1716528" cy="3575433"/>
          </a:xfrm>
          <a:custGeom>
            <a:avLst/>
            <a:gdLst>
              <a:gd name="connsiteX0" fmla="*/ 0 w 1716528"/>
              <a:gd name="connsiteY0" fmla="*/ 0 h 3021106"/>
              <a:gd name="connsiteX1" fmla="*/ 1716528 w 1716528"/>
              <a:gd name="connsiteY1" fmla="*/ 0 h 3021106"/>
              <a:gd name="connsiteX2" fmla="*/ 1716528 w 1716528"/>
              <a:gd name="connsiteY2" fmla="*/ 1030941 h 3021106"/>
              <a:gd name="connsiteX3" fmla="*/ 1377809 w 1716528"/>
              <a:gd name="connsiteY3" fmla="*/ 1030941 h 3021106"/>
              <a:gd name="connsiteX4" fmla="*/ 1377809 w 1716528"/>
              <a:gd name="connsiteY4" fmla="*/ 1990166 h 3021106"/>
              <a:gd name="connsiteX5" fmla="*/ 1716528 w 1716528"/>
              <a:gd name="connsiteY5" fmla="*/ 1990166 h 3021106"/>
              <a:gd name="connsiteX6" fmla="*/ 1716528 w 1716528"/>
              <a:gd name="connsiteY6" fmla="*/ 3021106 h 3021106"/>
              <a:gd name="connsiteX7" fmla="*/ 0 w 1716528"/>
              <a:gd name="connsiteY7" fmla="*/ 3021106 h 3021106"/>
              <a:gd name="connsiteX0-1" fmla="*/ 1377809 w 1716528"/>
              <a:gd name="connsiteY0-2" fmla="*/ 1030941 h 3021106"/>
              <a:gd name="connsiteX1-3" fmla="*/ 1377809 w 1716528"/>
              <a:gd name="connsiteY1-4" fmla="*/ 1990166 h 3021106"/>
              <a:gd name="connsiteX2-5" fmla="*/ 1716528 w 1716528"/>
              <a:gd name="connsiteY2-6" fmla="*/ 1990166 h 3021106"/>
              <a:gd name="connsiteX3-7" fmla="*/ 1716528 w 1716528"/>
              <a:gd name="connsiteY3-8" fmla="*/ 3021106 h 3021106"/>
              <a:gd name="connsiteX4-9" fmla="*/ 0 w 1716528"/>
              <a:gd name="connsiteY4-10" fmla="*/ 3021106 h 3021106"/>
              <a:gd name="connsiteX5-11" fmla="*/ 0 w 1716528"/>
              <a:gd name="connsiteY5-12" fmla="*/ 0 h 3021106"/>
              <a:gd name="connsiteX6-13" fmla="*/ 1716528 w 1716528"/>
              <a:gd name="connsiteY6-14" fmla="*/ 0 h 3021106"/>
              <a:gd name="connsiteX7-15" fmla="*/ 1716528 w 1716528"/>
              <a:gd name="connsiteY7-16" fmla="*/ 1030941 h 3021106"/>
              <a:gd name="connsiteX8" fmla="*/ 1469249 w 1716528"/>
              <a:gd name="connsiteY8" fmla="*/ 1122381 h 3021106"/>
              <a:gd name="connsiteX0-17" fmla="*/ 1377809 w 1716528"/>
              <a:gd name="connsiteY0-18" fmla="*/ 1030941 h 3021106"/>
              <a:gd name="connsiteX1-19" fmla="*/ 1377809 w 1716528"/>
              <a:gd name="connsiteY1-20" fmla="*/ 1990166 h 3021106"/>
              <a:gd name="connsiteX2-21" fmla="*/ 1716528 w 1716528"/>
              <a:gd name="connsiteY2-22" fmla="*/ 1990166 h 3021106"/>
              <a:gd name="connsiteX3-23" fmla="*/ 1716528 w 1716528"/>
              <a:gd name="connsiteY3-24" fmla="*/ 3021106 h 3021106"/>
              <a:gd name="connsiteX4-25" fmla="*/ 0 w 1716528"/>
              <a:gd name="connsiteY4-26" fmla="*/ 3021106 h 3021106"/>
              <a:gd name="connsiteX5-27" fmla="*/ 0 w 1716528"/>
              <a:gd name="connsiteY5-28" fmla="*/ 0 h 3021106"/>
              <a:gd name="connsiteX6-29" fmla="*/ 1716528 w 1716528"/>
              <a:gd name="connsiteY6-30" fmla="*/ 0 h 3021106"/>
              <a:gd name="connsiteX7-31" fmla="*/ 1716528 w 1716528"/>
              <a:gd name="connsiteY7-32" fmla="*/ 1030941 h 3021106"/>
              <a:gd name="connsiteX0-33" fmla="*/ 1377809 w 1716528"/>
              <a:gd name="connsiteY0-34" fmla="*/ 1030941 h 3021106"/>
              <a:gd name="connsiteX1-35" fmla="*/ 1377809 w 1716528"/>
              <a:gd name="connsiteY1-36" fmla="*/ 1990166 h 3021106"/>
              <a:gd name="connsiteX2-37" fmla="*/ 1716528 w 1716528"/>
              <a:gd name="connsiteY2-38" fmla="*/ 1990166 h 3021106"/>
              <a:gd name="connsiteX3-39" fmla="*/ 1716528 w 1716528"/>
              <a:gd name="connsiteY3-40" fmla="*/ 3021106 h 3021106"/>
              <a:gd name="connsiteX4-41" fmla="*/ 0 w 1716528"/>
              <a:gd name="connsiteY4-42" fmla="*/ 3021106 h 3021106"/>
              <a:gd name="connsiteX5-43" fmla="*/ 0 w 1716528"/>
              <a:gd name="connsiteY5-44" fmla="*/ 0 h 3021106"/>
              <a:gd name="connsiteX6-45" fmla="*/ 1716528 w 1716528"/>
              <a:gd name="connsiteY6-46" fmla="*/ 0 h 3021106"/>
              <a:gd name="connsiteX7-47" fmla="*/ 1716528 w 1716528"/>
              <a:gd name="connsiteY7-48" fmla="*/ 1030941 h 3021106"/>
              <a:gd name="connsiteX8-49" fmla="*/ 1377809 w 1716528"/>
              <a:gd name="connsiteY8-50" fmla="*/ 1030941 h 3021106"/>
              <a:gd name="connsiteX0-51" fmla="*/ 1377809 w 1716528"/>
              <a:gd name="connsiteY0-52" fmla="*/ 1030941 h 3021106"/>
              <a:gd name="connsiteX1-53" fmla="*/ 1377809 w 1716528"/>
              <a:gd name="connsiteY1-54" fmla="*/ 1990166 h 3021106"/>
              <a:gd name="connsiteX2-55" fmla="*/ 1716528 w 1716528"/>
              <a:gd name="connsiteY2-56" fmla="*/ 1990166 h 3021106"/>
              <a:gd name="connsiteX3-57" fmla="*/ 1716528 w 1716528"/>
              <a:gd name="connsiteY3-58" fmla="*/ 3021106 h 3021106"/>
              <a:gd name="connsiteX4-59" fmla="*/ 0 w 1716528"/>
              <a:gd name="connsiteY4-60" fmla="*/ 3021106 h 3021106"/>
              <a:gd name="connsiteX5-61" fmla="*/ 0 w 1716528"/>
              <a:gd name="connsiteY5-62" fmla="*/ 0 h 3021106"/>
              <a:gd name="connsiteX6-63" fmla="*/ 1716528 w 1716528"/>
              <a:gd name="connsiteY6-64" fmla="*/ 0 h 3021106"/>
              <a:gd name="connsiteX7-65" fmla="*/ 1716528 w 1716528"/>
              <a:gd name="connsiteY7-66" fmla="*/ 1030941 h 3021106"/>
              <a:gd name="connsiteX8-67" fmla="*/ 1469249 w 1716528"/>
              <a:gd name="connsiteY8-68" fmla="*/ 1122381 h 3021106"/>
              <a:gd name="connsiteX0-69" fmla="*/ 1377809 w 1716528"/>
              <a:gd name="connsiteY0-70" fmla="*/ 1030941 h 3021106"/>
              <a:gd name="connsiteX1-71" fmla="*/ 1377809 w 1716528"/>
              <a:gd name="connsiteY1-72" fmla="*/ 1990166 h 3021106"/>
              <a:gd name="connsiteX2-73" fmla="*/ 1716528 w 1716528"/>
              <a:gd name="connsiteY2-74" fmla="*/ 1990166 h 3021106"/>
              <a:gd name="connsiteX3-75" fmla="*/ 1716528 w 1716528"/>
              <a:gd name="connsiteY3-76" fmla="*/ 3021106 h 3021106"/>
              <a:gd name="connsiteX4-77" fmla="*/ 0 w 1716528"/>
              <a:gd name="connsiteY4-78" fmla="*/ 3021106 h 3021106"/>
              <a:gd name="connsiteX5-79" fmla="*/ 0 w 1716528"/>
              <a:gd name="connsiteY5-80" fmla="*/ 0 h 3021106"/>
              <a:gd name="connsiteX6-81" fmla="*/ 1716528 w 1716528"/>
              <a:gd name="connsiteY6-82" fmla="*/ 0 h 3021106"/>
              <a:gd name="connsiteX7-83" fmla="*/ 1716528 w 1716528"/>
              <a:gd name="connsiteY7-84" fmla="*/ 1030941 h 3021106"/>
              <a:gd name="connsiteX0-85" fmla="*/ 1377809 w 1716528"/>
              <a:gd name="connsiteY0-86" fmla="*/ 1990166 h 3021106"/>
              <a:gd name="connsiteX1-87" fmla="*/ 1716528 w 1716528"/>
              <a:gd name="connsiteY1-88" fmla="*/ 1990166 h 3021106"/>
              <a:gd name="connsiteX2-89" fmla="*/ 1716528 w 1716528"/>
              <a:gd name="connsiteY2-90" fmla="*/ 3021106 h 3021106"/>
              <a:gd name="connsiteX3-91" fmla="*/ 0 w 1716528"/>
              <a:gd name="connsiteY3-92" fmla="*/ 3021106 h 3021106"/>
              <a:gd name="connsiteX4-93" fmla="*/ 0 w 1716528"/>
              <a:gd name="connsiteY4-94" fmla="*/ 0 h 3021106"/>
              <a:gd name="connsiteX5-95" fmla="*/ 1716528 w 1716528"/>
              <a:gd name="connsiteY5-96" fmla="*/ 0 h 3021106"/>
              <a:gd name="connsiteX6-97" fmla="*/ 1716528 w 1716528"/>
              <a:gd name="connsiteY6-98" fmla="*/ 1030941 h 3021106"/>
              <a:gd name="connsiteX0-99" fmla="*/ 1716528 w 1716528"/>
              <a:gd name="connsiteY0-100" fmla="*/ 1990166 h 3021106"/>
              <a:gd name="connsiteX1-101" fmla="*/ 1716528 w 1716528"/>
              <a:gd name="connsiteY1-102" fmla="*/ 3021106 h 3021106"/>
              <a:gd name="connsiteX2-103" fmla="*/ 0 w 1716528"/>
              <a:gd name="connsiteY2-104" fmla="*/ 3021106 h 3021106"/>
              <a:gd name="connsiteX3-105" fmla="*/ 0 w 1716528"/>
              <a:gd name="connsiteY3-106" fmla="*/ 0 h 3021106"/>
              <a:gd name="connsiteX4-107" fmla="*/ 1716528 w 1716528"/>
              <a:gd name="connsiteY4-108" fmla="*/ 0 h 3021106"/>
              <a:gd name="connsiteX5-109" fmla="*/ 1716528 w 1716528"/>
              <a:gd name="connsiteY5-110" fmla="*/ 1030941 h 3021106"/>
              <a:gd name="connsiteX0-111" fmla="*/ 1716528 w 1716528"/>
              <a:gd name="connsiteY0-112" fmla="*/ 1990166 h 3021106"/>
              <a:gd name="connsiteX1-113" fmla="*/ 1716528 w 1716528"/>
              <a:gd name="connsiteY1-114" fmla="*/ 3021106 h 3021106"/>
              <a:gd name="connsiteX2-115" fmla="*/ 0 w 1716528"/>
              <a:gd name="connsiteY2-116" fmla="*/ 3021106 h 3021106"/>
              <a:gd name="connsiteX3-117" fmla="*/ 0 w 1716528"/>
              <a:gd name="connsiteY3-118" fmla="*/ 0 h 3021106"/>
              <a:gd name="connsiteX4-119" fmla="*/ 1716528 w 1716528"/>
              <a:gd name="connsiteY4-120" fmla="*/ 0 h 3021106"/>
              <a:gd name="connsiteX5-121" fmla="*/ 1707563 w 1716528"/>
              <a:gd name="connsiteY5-122" fmla="*/ 1273335 h 3021106"/>
              <a:gd name="connsiteX0-123" fmla="*/ 1716528 w 1716528"/>
              <a:gd name="connsiteY0-124" fmla="*/ 1990166 h 3021106"/>
              <a:gd name="connsiteX1-125" fmla="*/ 1716528 w 1716528"/>
              <a:gd name="connsiteY1-126" fmla="*/ 3021106 h 3021106"/>
              <a:gd name="connsiteX2-127" fmla="*/ 0 w 1716528"/>
              <a:gd name="connsiteY2-128" fmla="*/ 3021106 h 3021106"/>
              <a:gd name="connsiteX3-129" fmla="*/ 0 w 1716528"/>
              <a:gd name="connsiteY3-130" fmla="*/ 0 h 3021106"/>
              <a:gd name="connsiteX4-131" fmla="*/ 1716528 w 1716528"/>
              <a:gd name="connsiteY4-132" fmla="*/ 0 h 3021106"/>
              <a:gd name="connsiteX5-133" fmla="*/ 1707563 w 1716528"/>
              <a:gd name="connsiteY5-134" fmla="*/ 1280910 h 3021106"/>
              <a:gd name="connsiteX0-135" fmla="*/ 1716528 w 1716528"/>
              <a:gd name="connsiteY0-136" fmla="*/ 1762920 h 3021106"/>
              <a:gd name="connsiteX1-137" fmla="*/ 1716528 w 1716528"/>
              <a:gd name="connsiteY1-138" fmla="*/ 3021106 h 3021106"/>
              <a:gd name="connsiteX2-139" fmla="*/ 0 w 1716528"/>
              <a:gd name="connsiteY2-140" fmla="*/ 3021106 h 3021106"/>
              <a:gd name="connsiteX3-141" fmla="*/ 0 w 1716528"/>
              <a:gd name="connsiteY3-142" fmla="*/ 0 h 3021106"/>
              <a:gd name="connsiteX4-143" fmla="*/ 1716528 w 1716528"/>
              <a:gd name="connsiteY4-144" fmla="*/ 0 h 3021106"/>
              <a:gd name="connsiteX5-145" fmla="*/ 1707563 w 1716528"/>
              <a:gd name="connsiteY5-146" fmla="*/ 1280910 h 30211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716528" h="3021106">
                <a:moveTo>
                  <a:pt x="1716528" y="1762920"/>
                </a:moveTo>
                <a:lnTo>
                  <a:pt x="1716528" y="3021106"/>
                </a:lnTo>
                <a:lnTo>
                  <a:pt x="0" y="3021106"/>
                </a:lnTo>
                <a:lnTo>
                  <a:pt x="0" y="0"/>
                </a:lnTo>
                <a:lnTo>
                  <a:pt x="1716528" y="0"/>
                </a:lnTo>
                <a:cubicBezTo>
                  <a:pt x="1713540" y="424445"/>
                  <a:pt x="1710551" y="856465"/>
                  <a:pt x="1707563" y="1280910"/>
                </a:cubicBezTo>
              </a:path>
            </a:pathLst>
          </a:custGeom>
          <a:noFill/>
          <a:ln w="63500" cap="flat" cmpd="sng" algn="ctr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Regular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051602" y="3517901"/>
            <a:ext cx="1839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CONTENTS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098463" y="188407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课题背景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102015" y="1885343"/>
            <a:ext cx="2672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国内外研究现状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114338" y="3414813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研究内容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102015" y="3388778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研究方法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098463" y="4912632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研究计划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710615" y="1973219"/>
            <a:ext cx="359683" cy="359683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kumimoji="1" lang="zh-CN" altLang="en-US" sz="13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7639451" y="1973219"/>
            <a:ext cx="359683" cy="359683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kumimoji="1" lang="zh-CN" altLang="en-US" sz="13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4710615" y="3482900"/>
            <a:ext cx="359683" cy="359683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endParaRPr kumimoji="1" lang="zh-CN" altLang="en-US" sz="13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7639451" y="3458352"/>
            <a:ext cx="359683" cy="359683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endParaRPr kumimoji="1" lang="zh-CN" altLang="en-US" sz="13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710615" y="4986444"/>
            <a:ext cx="359683" cy="359683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endParaRPr kumimoji="1" lang="zh-CN" altLang="en-US" sz="13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2"/>
          <a:stretch>
            <a:fillRect/>
          </a:stretch>
        </p:blipFill>
        <p:spPr>
          <a:xfrm>
            <a:off x="1833177" y="1164227"/>
            <a:ext cx="1585242" cy="468532"/>
          </a:xfrm>
          <a:prstGeom prst="rect">
            <a:avLst/>
          </a:prstGeom>
        </p:spPr>
      </p:pic>
      <p:sp>
        <p:nvSpPr>
          <p:cNvPr id="21" name="副标题 2"/>
          <p:cNvSpPr txBox="1"/>
          <p:nvPr/>
        </p:nvSpPr>
        <p:spPr>
          <a:xfrm>
            <a:off x="2452443" y="6331180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  </a:t>
            </a:r>
            <a:r>
              <a: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</a:t>
            </a:r>
            <a:endParaRPr kumimoji="0" lang="zh-CN" altLang="en-US" sz="1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2000000000000000000" pitchFamily="65" charset="-122"/>
              <a:ea typeface="方正小标宋简体" panose="02000000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t="34000" b="25333"/>
          <a:stretch>
            <a:fillRect/>
          </a:stretch>
        </p:blipFill>
        <p:spPr>
          <a:xfrm>
            <a:off x="0" y="2240280"/>
            <a:ext cx="12192000" cy="2788920"/>
          </a:xfrm>
          <a:prstGeom prst="rect">
            <a:avLst/>
          </a:prstGeom>
        </p:spPr>
      </p:pic>
      <p:cxnSp>
        <p:nvCxnSpPr>
          <p:cNvPr id="3" name="直线连接符 54"/>
          <p:cNvCxnSpPr/>
          <p:nvPr/>
        </p:nvCxnSpPr>
        <p:spPr>
          <a:xfrm flipH="1">
            <a:off x="-7622" y="5013960"/>
            <a:ext cx="12204000" cy="0"/>
          </a:xfrm>
          <a:prstGeom prst="line">
            <a:avLst/>
          </a:prstGeom>
          <a:noFill/>
          <a:ln w="101600" cap="flat" cmpd="sng" algn="ctr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cxnSp>
        <p:nvCxnSpPr>
          <p:cNvPr id="4" name="直线连接符 55"/>
          <p:cNvCxnSpPr/>
          <p:nvPr/>
        </p:nvCxnSpPr>
        <p:spPr>
          <a:xfrm flipH="1">
            <a:off x="-7622" y="2240280"/>
            <a:ext cx="12204000" cy="0"/>
          </a:xfrm>
          <a:prstGeom prst="line">
            <a:avLst/>
          </a:prstGeom>
          <a:noFill/>
          <a:ln w="101600" cap="flat" cmpd="sng" algn="ctr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5" name="文本框 4"/>
          <p:cNvSpPr txBox="1"/>
          <p:nvPr/>
        </p:nvSpPr>
        <p:spPr>
          <a:xfrm>
            <a:off x="4324510" y="3130988"/>
            <a:ext cx="357020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E9C79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课题背景</a:t>
            </a:r>
            <a:endParaRPr kumimoji="1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E9C79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99135" y="266590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第一部分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线连接符 5"/>
          <p:cNvCxnSpPr/>
          <p:nvPr/>
        </p:nvCxnSpPr>
        <p:spPr>
          <a:xfrm flipH="1">
            <a:off x="4424681" y="293257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8" name="直线连接符 60"/>
          <p:cNvCxnSpPr/>
          <p:nvPr/>
        </p:nvCxnSpPr>
        <p:spPr>
          <a:xfrm flipH="1">
            <a:off x="7000241" y="293257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55" name="直线连接符 109"/>
          <p:cNvCxnSpPr/>
          <p:nvPr/>
        </p:nvCxnSpPr>
        <p:spPr>
          <a:xfrm flipH="1">
            <a:off x="4424681" y="440323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56" name="直线连接符 110"/>
          <p:cNvCxnSpPr/>
          <p:nvPr/>
        </p:nvCxnSpPr>
        <p:spPr>
          <a:xfrm flipH="1">
            <a:off x="6893561" y="440323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660" y="4311615"/>
            <a:ext cx="1144061" cy="251567"/>
          </a:xfrm>
          <a:prstGeom prst="rect">
            <a:avLst/>
          </a:prstGeom>
        </p:spPr>
      </p:pic>
      <p:sp>
        <p:nvSpPr>
          <p:cNvPr id="12" name="副标题 2"/>
          <p:cNvSpPr txBox="1"/>
          <p:nvPr/>
        </p:nvSpPr>
        <p:spPr>
          <a:xfrm>
            <a:off x="2452443" y="5901541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  </a:t>
            </a:r>
            <a:r>
              <a:rPr kumimoji="0" lang="zh-CN" altLang="en-US" sz="18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8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方正小标宋简体" panose="02000000000000000000" pitchFamily="65" charset="-122"/>
              <a:ea typeface="方正小标宋简体" panose="02000000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078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课题背景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1" name="Rounded Rectangle 90"/>
          <p:cNvSpPr/>
          <p:nvPr/>
        </p:nvSpPr>
        <p:spPr>
          <a:xfrm>
            <a:off x="822960" y="1234440"/>
            <a:ext cx="5303520" cy="406908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endParaRPr sz="2400" dirty="0" err="1"/>
          </a:p>
          <a:p>
            <a:pPr algn="ctr">
              <a:spcAft>
                <a:spcPts val="400"/>
              </a:spcAft>
              <a:defRPr sz="18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endParaRPr sz="2400" dirty="0" err="1"/>
          </a:p>
          <a:p>
            <a:pPr algn="ctr">
              <a:spcAft>
                <a:spcPts val="400"/>
              </a:spcAft>
              <a:defRPr sz="18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r>
              <a:rPr sz="2400" dirty="0" err="1">
                <a:ea typeface="微软雅黑" panose="020B0503020204020204" pitchFamily="34" charset="-122"/>
              </a:rPr>
              <a:t>现实痛点</a:t>
            </a:r>
            <a:endParaRPr sz="2400" dirty="0"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100"/>
              </a:spcAft>
              <a:defRPr sz="14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600" dirty="0" err="1">
                <a:ea typeface="微软雅黑" panose="020B0503020204020204" pitchFamily="34" charset="-122"/>
                <a:cs typeface="宋体" panose="02010600030101010101" pitchFamily="2" charset="-122"/>
              </a:rPr>
              <a:t>时序错位</a:t>
            </a:r>
            <a:r>
              <a:rPr sz="1600" dirty="0">
                <a:ea typeface="微软雅黑" panose="020B0503020204020204" pitchFamily="34" charset="-122"/>
                <a:cs typeface="宋体" panose="02010600030101010101" pitchFamily="2" charset="-122"/>
              </a:rPr>
              <a:t>：</a:t>
            </a:r>
            <a:r>
              <a:rPr lang="zh-CN" altLang="en-US" sz="1600" dirty="0">
                <a:ea typeface="微软雅黑" panose="020B0503020204020204" pitchFamily="34" charset="-122"/>
                <a:cs typeface="宋体" panose="02010600030101010101" pitchFamily="2" charset="-122"/>
              </a:rPr>
              <a:t>舞蹈</a:t>
            </a:r>
            <a:r>
              <a:rPr sz="1600" dirty="0" err="1">
                <a:ea typeface="微软雅黑" panose="020B0503020204020204" pitchFamily="34" charset="-122"/>
                <a:cs typeface="宋体" panose="02010600030101010101" pitchFamily="2" charset="-122"/>
              </a:rPr>
              <a:t>老师演示与学生练习速度不一致，逐帧比对</a:t>
            </a:r>
            <a:r>
              <a:rPr sz="1600" dirty="0" err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（Frame-to-Frame）</a:t>
            </a:r>
            <a:r>
              <a:rPr sz="1600" dirty="0" err="1">
                <a:ea typeface="微软雅黑" panose="020B0503020204020204" pitchFamily="34" charset="-122"/>
                <a:cs typeface="宋体" panose="02010600030101010101" pitchFamily="2" charset="-122"/>
              </a:rPr>
              <a:t>失效</a:t>
            </a:r>
            <a:endParaRPr sz="1600" dirty="0" err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ts val="100"/>
              </a:spcAft>
              <a:defRPr sz="14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ts val="100"/>
              </a:spcAft>
              <a:defRPr sz="14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视觉盲区：肉眼难同时量化全身20+关节的细微角度</a:t>
            </a:r>
            <a:r>
              <a:rPr lang="zh-CN"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sz="16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幅度偏差</a:t>
            </a:r>
            <a:r>
              <a:rPr lang="zh-CN" sz="16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现实中通过人检查看舞蹈动作效率低成本高</a:t>
            </a:r>
            <a:endParaRPr lang="zh-CN" altLang="en-US" sz="1600"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100"/>
              </a:spcAft>
              <a:defRPr sz="14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lang="zh-CN" altLang="en-US" sz="1600"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100"/>
              </a:spcAft>
              <a:defRPr sz="14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6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反馈粒度粗</a:t>
            </a:r>
            <a:r>
              <a:rPr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舞蹈动作</a:t>
            </a:r>
            <a:r>
              <a:rPr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往往只能“</a:t>
            </a:r>
            <a:r>
              <a:rPr sz="16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像不像</a:t>
            </a:r>
            <a:r>
              <a:rPr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”，</a:t>
            </a:r>
            <a:r>
              <a:rPr sz="16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难定位到具体时间段与关节</a:t>
            </a:r>
            <a:endParaRPr sz="1600" dirty="0" err="1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100"/>
              </a:spcAft>
              <a:defRPr sz="14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dirty="0"/>
          </a:p>
          <a:p>
            <a:pPr algn="just">
              <a:lnSpc>
                <a:spcPct val="150000"/>
              </a:lnSpc>
              <a:spcAft>
                <a:spcPts val="100"/>
              </a:spcAft>
              <a:defRPr sz="14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dirty="0"/>
          </a:p>
        </p:txBody>
      </p:sp>
      <p:sp>
        <p:nvSpPr>
          <p:cNvPr id="92" name="Rounded Rectangle 91"/>
          <p:cNvSpPr/>
          <p:nvPr/>
        </p:nvSpPr>
        <p:spPr>
          <a:xfrm>
            <a:off x="6400800" y="1234440"/>
            <a:ext cx="5303520" cy="406908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endParaRPr sz="2400" dirty="0" err="1">
              <a:latin typeface="黑体" panose="02010609060101010101" charset="-122"/>
              <a:ea typeface="黑体" panose="02010609060101010101" charset="-122"/>
            </a:endParaRPr>
          </a:p>
          <a:p>
            <a:pPr algn="ctr">
              <a:spcAft>
                <a:spcPts val="400"/>
              </a:spcAft>
              <a:defRPr sz="18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endParaRPr sz="2400" dirty="0" err="1">
              <a:latin typeface="黑体" panose="02010609060101010101" charset="-122"/>
              <a:ea typeface="黑体" panose="02010609060101010101" charset="-122"/>
            </a:endParaRPr>
          </a:p>
          <a:p>
            <a:pPr algn="ctr">
              <a:spcAft>
                <a:spcPts val="400"/>
              </a:spcAft>
              <a:defRPr sz="18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r>
              <a:rPr sz="2400" dirty="0" err="1">
                <a:ea typeface="微软雅黑" panose="020B0503020204020204" pitchFamily="34" charset="-122"/>
              </a:rPr>
              <a:t>技术挑战</a:t>
            </a:r>
            <a:endParaRPr sz="2400" dirty="0"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100"/>
              </a:spcAft>
              <a:defRPr sz="14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6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时序非同步挑战：</a:t>
            </a:r>
            <a:r>
              <a:rPr sz="1600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Speed</a:t>
            </a:r>
            <a:r>
              <a:rPr sz="16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Variance</a:t>
            </a:r>
            <a:r>
              <a:rPr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下线性对齐</a:t>
            </a:r>
            <a:r>
              <a:rPr sz="1600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（Linear</a:t>
            </a:r>
            <a:r>
              <a:rPr sz="16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sz="1600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Scaling）</a:t>
            </a:r>
            <a:r>
              <a:rPr sz="16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造成关键帧错位，需要非线性时序规整</a:t>
            </a:r>
            <a:r>
              <a:rPr sz="1600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（DTW</a:t>
            </a:r>
            <a:r>
              <a:rPr sz="16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endParaRPr sz="1600"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100"/>
              </a:spcAft>
              <a:defRPr sz="14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600" dirty="0" err="1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100"/>
              </a:spcAft>
              <a:defRPr sz="14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6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遮挡与噪声：非受控拍摄（宿舍</a:t>
            </a:r>
            <a:r>
              <a:rPr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sz="16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练功房）光照、抖动、遮挡导致关键点抖动</a:t>
            </a:r>
            <a:r>
              <a:rPr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sz="16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丢点</a:t>
            </a:r>
            <a:endParaRPr sz="1600" dirty="0" err="1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100"/>
              </a:spcAft>
              <a:defRPr sz="14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600" dirty="0" err="1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100"/>
              </a:spcAft>
              <a:defRPr sz="14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6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细粒度归因：不仅要评分，还要输出</a:t>
            </a:r>
            <a:r>
              <a:rPr sz="16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Segment + Joint</a:t>
            </a:r>
            <a:r>
              <a:rPr sz="1600" dirty="0"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级别的可解释定位</a:t>
            </a:r>
            <a:endParaRPr sz="1600" dirty="0" err="1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100"/>
              </a:spcAft>
              <a:defRPr sz="14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dirty="0"/>
          </a:p>
          <a:p>
            <a:pPr algn="just">
              <a:lnSpc>
                <a:spcPct val="150000"/>
              </a:lnSpc>
              <a:spcAft>
                <a:spcPts val="100"/>
              </a:spcAft>
              <a:defRPr sz="14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dirty="0"/>
          </a:p>
        </p:txBody>
      </p:sp>
      <p:sp>
        <p:nvSpPr>
          <p:cNvPr id="93" name="Rounded Rectangle 92"/>
          <p:cNvSpPr/>
          <p:nvPr/>
        </p:nvSpPr>
        <p:spPr>
          <a:xfrm>
            <a:off x="822960" y="5440680"/>
            <a:ext cx="10881360" cy="777240"/>
          </a:xfrm>
          <a:prstGeom prst="roundRect">
            <a:avLst/>
          </a:prstGeom>
          <a:solidFill>
            <a:srgbClr val="FFFAF4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r>
              <a:rPr dirty="0" err="1">
                <a:ea typeface="微软雅黑" panose="020B0503020204020204" pitchFamily="34" charset="-122"/>
              </a:rPr>
              <a:t>本课题思路</a:t>
            </a: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（The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Why → The How）</a:t>
            </a:r>
            <a:endParaRPr dirty="0"/>
          </a:p>
          <a:p>
            <a:pPr algn="ctr">
              <a:spcAft>
                <a:spcPts val="100"/>
              </a:spcAft>
              <a:defRPr sz="14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dirty="0" err="1"/>
              <a:t>姿态关键点序列</a:t>
            </a:r>
            <a:r>
              <a:rPr dirty="0"/>
              <a:t> → </a:t>
            </a:r>
            <a:r>
              <a:rPr dirty="0" err="1"/>
              <a:t>非线性对齐</a:t>
            </a: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（DTW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dirty="0"/>
              <a:t>→ </a:t>
            </a:r>
            <a:r>
              <a:rPr dirty="0" err="1"/>
              <a:t>空间+节奏多维评分</a:t>
            </a:r>
            <a:r>
              <a:rPr dirty="0"/>
              <a:t> → </a:t>
            </a:r>
            <a:r>
              <a:rPr dirty="0" err="1"/>
              <a:t>时间段</a:t>
            </a:r>
            <a:r>
              <a:rPr dirty="0"/>
              <a:t>/</a:t>
            </a:r>
            <a:r>
              <a:rPr dirty="0" err="1"/>
              <a:t>关节级可解释反馈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t="34000" b="25333"/>
          <a:stretch>
            <a:fillRect/>
          </a:stretch>
        </p:blipFill>
        <p:spPr>
          <a:xfrm>
            <a:off x="0" y="2240280"/>
            <a:ext cx="12192000" cy="2788920"/>
          </a:xfrm>
          <a:prstGeom prst="rect">
            <a:avLst/>
          </a:prstGeom>
        </p:spPr>
      </p:pic>
      <p:cxnSp>
        <p:nvCxnSpPr>
          <p:cNvPr id="3" name="直线连接符 54"/>
          <p:cNvCxnSpPr/>
          <p:nvPr/>
        </p:nvCxnSpPr>
        <p:spPr>
          <a:xfrm flipH="1">
            <a:off x="-7622" y="5013960"/>
            <a:ext cx="12204000" cy="0"/>
          </a:xfrm>
          <a:prstGeom prst="line">
            <a:avLst/>
          </a:prstGeom>
          <a:noFill/>
          <a:ln w="101600" cap="flat" cmpd="sng" algn="ctr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cxnSp>
        <p:nvCxnSpPr>
          <p:cNvPr id="4" name="直线连接符 55"/>
          <p:cNvCxnSpPr/>
          <p:nvPr/>
        </p:nvCxnSpPr>
        <p:spPr>
          <a:xfrm flipH="1">
            <a:off x="-7622" y="2240280"/>
            <a:ext cx="12204000" cy="0"/>
          </a:xfrm>
          <a:prstGeom prst="line">
            <a:avLst/>
          </a:prstGeom>
          <a:noFill/>
          <a:ln w="101600" cap="flat" cmpd="sng" algn="ctr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5" name="文本框 4"/>
          <p:cNvSpPr txBox="1"/>
          <p:nvPr/>
        </p:nvSpPr>
        <p:spPr>
          <a:xfrm>
            <a:off x="3072290" y="3130988"/>
            <a:ext cx="605917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E9C79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国内外研究现状</a:t>
            </a:r>
            <a:endParaRPr kumimoji="1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E9C79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99135" y="2665901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第二部分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线连接符 5"/>
          <p:cNvCxnSpPr/>
          <p:nvPr/>
        </p:nvCxnSpPr>
        <p:spPr>
          <a:xfrm flipH="1">
            <a:off x="4424681" y="293257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8" name="直线连接符 60"/>
          <p:cNvCxnSpPr/>
          <p:nvPr/>
        </p:nvCxnSpPr>
        <p:spPr>
          <a:xfrm flipH="1">
            <a:off x="7000241" y="293257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55" name="直线连接符 109"/>
          <p:cNvCxnSpPr/>
          <p:nvPr/>
        </p:nvCxnSpPr>
        <p:spPr>
          <a:xfrm flipH="1">
            <a:off x="4424681" y="440323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56" name="直线连接符 110"/>
          <p:cNvCxnSpPr/>
          <p:nvPr/>
        </p:nvCxnSpPr>
        <p:spPr>
          <a:xfrm flipH="1">
            <a:off x="6893561" y="440323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660" y="4311615"/>
            <a:ext cx="1144061" cy="251567"/>
          </a:xfrm>
          <a:prstGeom prst="rect">
            <a:avLst/>
          </a:prstGeom>
        </p:spPr>
      </p:pic>
      <p:sp>
        <p:nvSpPr>
          <p:cNvPr id="12" name="副标题 2"/>
          <p:cNvSpPr txBox="1"/>
          <p:nvPr/>
        </p:nvSpPr>
        <p:spPr>
          <a:xfrm>
            <a:off x="2452443" y="5901541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  </a:t>
            </a:r>
            <a:r>
              <a:rPr kumimoji="0" lang="zh-CN" altLang="en-US" sz="18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8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方正小标宋简体" panose="02000000000000000000" pitchFamily="65" charset="-122"/>
              <a:ea typeface="方正小标宋简体" panose="02000000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26765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国内外研究现状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3"/>
          <a:stretch>
            <a:fillRect/>
          </a:stretch>
        </p:blipFill>
        <p:spPr>
          <a:xfrm>
            <a:off x="9996854" y="153772"/>
            <a:ext cx="1863310" cy="407353"/>
          </a:xfrm>
          <a:prstGeom prst="rect">
            <a:avLst/>
          </a:prstGeom>
        </p:spPr>
      </p:pic>
      <p:sp>
        <p:nvSpPr>
          <p:cNvPr id="91" name="Rounded Rectangle 90"/>
          <p:cNvSpPr/>
          <p:nvPr/>
        </p:nvSpPr>
        <p:spPr>
          <a:xfrm>
            <a:off x="822960" y="1234440"/>
            <a:ext cx="6903720" cy="137160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400"/>
              </a:spcAft>
              <a:defRPr sz="16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r>
              <a:rPr dirty="0">
                <a:ea typeface="微软雅黑" panose="020B0503020204020204" pitchFamily="34" charset="-122"/>
                <a:cs typeface="微软雅黑" panose="020B0503020204020204" pitchFamily="34" charset="-122"/>
              </a:rPr>
              <a:t>① </a:t>
            </a:r>
            <a:r>
              <a:rPr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姿态估计：把视频变成骨架序列</a:t>
            </a:r>
            <a:r>
              <a:rPr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（Pose</a:t>
            </a:r>
            <a:r>
              <a:rPr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Estimation）</a:t>
            </a:r>
            <a:endParaRPr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spcAft>
                <a:spcPts val="200"/>
              </a:spcAft>
              <a:defRPr sz="125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代表：OpenPose</a:t>
            </a:r>
            <a:r>
              <a:rPr dirty="0">
                <a:ea typeface="微软雅黑" panose="020B0503020204020204" pitchFamily="34" charset="-122"/>
                <a:cs typeface="微软雅黑" panose="020B0503020204020204" pitchFamily="34" charset="-122"/>
              </a:rPr>
              <a:t> / </a:t>
            </a:r>
            <a:r>
              <a:rPr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HRNet；工程端常用</a:t>
            </a:r>
            <a:r>
              <a:rPr dirty="0"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MediaPipe（</a:t>
            </a:r>
            <a:r>
              <a:rPr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轻量、易部署</a:t>
            </a:r>
            <a:r>
              <a:rPr dirty="0"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spcAft>
                <a:spcPts val="200"/>
              </a:spcAft>
              <a:defRPr sz="125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缺口：快动作</a:t>
            </a:r>
            <a:r>
              <a:rPr dirty="0"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遮挡下关键点抖动与丢点</a:t>
            </a:r>
            <a:r>
              <a:rPr dirty="0">
                <a:ea typeface="微软雅黑" panose="020B0503020204020204" pitchFamily="34" charset="-122"/>
                <a:cs typeface="微软雅黑" panose="020B0503020204020204" pitchFamily="34" charset="-122"/>
              </a:rPr>
              <a:t> → </a:t>
            </a:r>
            <a:r>
              <a:rPr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误差会被后续对齐与评分放大</a:t>
            </a:r>
            <a:endParaRPr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spcAft>
                <a:spcPts val="200"/>
              </a:spcAft>
              <a:defRPr sz="125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需求：置信度过滤</a:t>
            </a:r>
            <a:r>
              <a:rPr dirty="0"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平滑去噪</a:t>
            </a:r>
            <a:r>
              <a:rPr dirty="0"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归一化，保证序列可比性</a:t>
            </a:r>
            <a:endParaRPr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2" name="Down Arrow 91"/>
          <p:cNvSpPr/>
          <p:nvPr/>
        </p:nvSpPr>
        <p:spPr>
          <a:xfrm>
            <a:off x="4091940" y="2560320"/>
            <a:ext cx="365760" cy="320040"/>
          </a:xfrm>
          <a:prstGeom prst="downArrow">
            <a:avLst/>
          </a:prstGeom>
          <a:solidFill>
            <a:srgbClr val="567EB4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22960" y="2834640"/>
            <a:ext cx="6903720" cy="137160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400"/>
              </a:spcAft>
              <a:defRPr sz="16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r>
              <a:rPr dirty="0"/>
              <a:t>② </a:t>
            </a:r>
            <a:r>
              <a:rPr dirty="0" err="1"/>
              <a:t>动作对比：解决速度差的时序对齐</a:t>
            </a: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（Temporal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Alignment）</a:t>
            </a:r>
            <a:endParaRPr dirty="0"/>
          </a:p>
          <a:p>
            <a:pPr>
              <a:spcAft>
                <a:spcPts val="200"/>
              </a:spcAft>
              <a:defRPr sz="125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dirty="0" err="1"/>
              <a:t>代表：</a:t>
            </a: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DTW</a:t>
            </a:r>
            <a:r>
              <a:rPr dirty="0"/>
              <a:t> / </a:t>
            </a:r>
            <a:r>
              <a:rPr dirty="0" err="1"/>
              <a:t>相位对齐；舞蹈对比可视化方向已有探索（如王婷婷</a:t>
            </a:r>
            <a:r>
              <a:rPr dirty="0"/>
              <a:t> 2023）</a:t>
            </a:r>
            <a:endParaRPr dirty="0"/>
          </a:p>
          <a:p>
            <a:pPr>
              <a:spcAft>
                <a:spcPts val="200"/>
              </a:spcAft>
              <a:defRPr sz="125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dirty="0" err="1"/>
              <a:t>缺口：线性拉伸会造成关键帧错位</a:t>
            </a: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（Speed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Variance）</a:t>
            </a:r>
            <a:r>
              <a:rPr dirty="0"/>
              <a:t>→ </a:t>
            </a:r>
            <a:r>
              <a:rPr dirty="0" err="1"/>
              <a:t>需要非线性规整</a:t>
            </a:r>
            <a:endParaRPr dirty="0"/>
          </a:p>
          <a:p>
            <a:pPr>
              <a:spcAft>
                <a:spcPts val="200"/>
              </a:spcAft>
              <a:defRPr sz="125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dirty="0"/>
              <a:t>需求：对齐需“</a:t>
            </a:r>
            <a:r>
              <a:rPr dirty="0" err="1"/>
              <a:t>受约束</a:t>
            </a:r>
            <a:r>
              <a:rPr dirty="0"/>
              <a:t>”（</a:t>
            </a:r>
            <a:r>
              <a:rPr dirty="0" err="1"/>
              <a:t>窗口</a:t>
            </a:r>
            <a:r>
              <a:rPr dirty="0"/>
              <a:t>/</a:t>
            </a:r>
            <a:r>
              <a:rPr dirty="0" err="1"/>
              <a:t>斜率）以防跨段误匹配，并输出节奏快慢信息</a:t>
            </a:r>
            <a:endParaRPr dirty="0"/>
          </a:p>
        </p:txBody>
      </p:sp>
      <p:sp>
        <p:nvSpPr>
          <p:cNvPr id="94" name="Down Arrow 93"/>
          <p:cNvSpPr/>
          <p:nvPr/>
        </p:nvSpPr>
        <p:spPr>
          <a:xfrm>
            <a:off x="4091940" y="4160520"/>
            <a:ext cx="365760" cy="320040"/>
          </a:xfrm>
          <a:prstGeom prst="downArrow">
            <a:avLst/>
          </a:prstGeom>
          <a:solidFill>
            <a:srgbClr val="567EB4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22960" y="4434840"/>
            <a:ext cx="6903720" cy="137160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400"/>
              </a:spcAft>
              <a:defRPr sz="16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r>
              <a:rPr dirty="0"/>
              <a:t>③ 质量评估：从“给分”到“</a:t>
            </a:r>
            <a:r>
              <a:rPr dirty="0" err="1"/>
              <a:t>可解释纠错</a:t>
            </a:r>
            <a:r>
              <a:rPr dirty="0"/>
              <a:t>”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（AQA &amp; Feedback）</a:t>
            </a:r>
            <a:endParaRPr dirty="0"/>
          </a:p>
          <a:p>
            <a:pPr>
              <a:spcAft>
                <a:spcPts val="200"/>
              </a:spcAft>
              <a:defRPr sz="125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dirty="0" err="1"/>
              <a:t>代表：回归</a:t>
            </a:r>
            <a:r>
              <a:rPr dirty="0"/>
              <a:t>/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Transformer</a:t>
            </a:r>
            <a:r>
              <a:rPr dirty="0"/>
              <a:t> </a:t>
            </a:r>
            <a:r>
              <a:rPr dirty="0" err="1"/>
              <a:t>打分（如郭坚峰</a:t>
            </a:r>
            <a:r>
              <a:rPr dirty="0"/>
              <a:t> 2023）</a:t>
            </a:r>
            <a:endParaRPr dirty="0"/>
          </a:p>
          <a:p>
            <a:pPr>
              <a:spcAft>
                <a:spcPts val="200"/>
              </a:spcAft>
              <a:defRPr sz="125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dirty="0" err="1"/>
              <a:t>缺口：多给总分</a:t>
            </a: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（Total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Score）</a:t>
            </a:r>
            <a:r>
              <a:rPr dirty="0"/>
              <a:t>，</a:t>
            </a:r>
            <a:r>
              <a:rPr dirty="0" err="1"/>
              <a:t>缺少“哪里错了”的</a:t>
            </a:r>
            <a:r>
              <a:rPr dirty="0"/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Segment + Joint </a:t>
            </a:r>
            <a:r>
              <a:rPr dirty="0" err="1"/>
              <a:t>归因</a:t>
            </a:r>
            <a:endParaRPr dirty="0"/>
          </a:p>
          <a:p>
            <a:pPr>
              <a:spcAft>
                <a:spcPts val="200"/>
              </a:spcAft>
              <a:defRPr sz="125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dirty="0" err="1"/>
              <a:t>需求：输出片段定位、关节</a:t>
            </a:r>
            <a:r>
              <a:rPr dirty="0"/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Top‑K </a:t>
            </a:r>
            <a:r>
              <a:rPr dirty="0" err="1"/>
              <a:t>与关键帧对照，才能真正指导改进</a:t>
            </a:r>
            <a:endParaRPr dirty="0"/>
          </a:p>
        </p:txBody>
      </p:sp>
      <p:sp>
        <p:nvSpPr>
          <p:cNvPr id="96" name="Rounded Rectangle 95"/>
          <p:cNvSpPr/>
          <p:nvPr/>
        </p:nvSpPr>
        <p:spPr>
          <a:xfrm>
            <a:off x="8046720" y="1234440"/>
            <a:ext cx="3639312" cy="4480560"/>
          </a:xfrm>
          <a:prstGeom prst="roundRect">
            <a:avLst/>
          </a:prstGeom>
          <a:solidFill>
            <a:srgbClr val="FFFAF4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r>
              <a:rPr sz="1800" dirty="0" err="1">
                <a:ea typeface="微软雅黑" panose="020B0503020204020204" pitchFamily="34" charset="-122"/>
              </a:rPr>
              <a:t>本课题定位</a:t>
            </a:r>
            <a:endParaRPr sz="18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4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轻量鲁棒输入：</a:t>
            </a:r>
            <a:r>
              <a:rPr sz="1400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MediaPipe</a:t>
            </a:r>
            <a:r>
              <a:rPr sz="1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+ </a:t>
            </a:r>
            <a:r>
              <a:rPr sz="14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置信度过滤</a:t>
            </a:r>
            <a:r>
              <a:rPr sz="1400" dirty="0"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sz="14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平滑去噪</a:t>
            </a:r>
            <a:endParaRPr sz="1400" dirty="0" err="1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400"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4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受约束</a:t>
            </a:r>
            <a:r>
              <a:rPr sz="1400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DTW</a:t>
            </a:r>
            <a:r>
              <a:rPr sz="14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：窗口</a:t>
            </a:r>
            <a:r>
              <a:rPr sz="1400" dirty="0"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sz="14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斜率限制，既对齐又给出节奏偏差</a:t>
            </a:r>
            <a:endParaRPr sz="1400" dirty="0" err="1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400"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4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细粒度归因：</a:t>
            </a:r>
            <a:r>
              <a:rPr sz="1400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Segment</a:t>
            </a:r>
            <a:r>
              <a:rPr sz="1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+ Joint + Top‑K</a:t>
            </a:r>
            <a:r>
              <a:rPr sz="1400" dirty="0"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4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错误关节</a:t>
            </a:r>
            <a:r>
              <a:rPr sz="1400" dirty="0"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sz="14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关键帧</a:t>
            </a:r>
            <a:endParaRPr sz="1400" dirty="0" err="1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400" dirty="0"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4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工程闭环：产物</a:t>
            </a:r>
            <a:r>
              <a:rPr sz="1400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（timeline</a:t>
            </a:r>
            <a:r>
              <a:rPr sz="14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/report/</a:t>
            </a:r>
            <a:r>
              <a:rPr sz="1400" dirty="0" err="1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overlay）</a:t>
            </a:r>
            <a:r>
              <a:rPr sz="1400" dirty="0" err="1">
                <a:ea typeface="微软雅黑" panose="020B0503020204020204" pitchFamily="34" charset="-122"/>
                <a:cs typeface="微软雅黑" panose="020B0503020204020204" pitchFamily="34" charset="-122"/>
              </a:rPr>
              <a:t>直接支撑前端同步回放</a:t>
            </a:r>
            <a:endParaRPr sz="1400" dirty="0" err="1"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t="34000" b="25333"/>
          <a:stretch>
            <a:fillRect/>
          </a:stretch>
        </p:blipFill>
        <p:spPr>
          <a:xfrm>
            <a:off x="0" y="2240280"/>
            <a:ext cx="12192000" cy="2788920"/>
          </a:xfrm>
          <a:prstGeom prst="rect">
            <a:avLst/>
          </a:prstGeom>
        </p:spPr>
      </p:pic>
      <p:cxnSp>
        <p:nvCxnSpPr>
          <p:cNvPr id="3" name="直线连接符 54"/>
          <p:cNvCxnSpPr/>
          <p:nvPr/>
        </p:nvCxnSpPr>
        <p:spPr>
          <a:xfrm flipH="1">
            <a:off x="-7622" y="5013960"/>
            <a:ext cx="12204000" cy="0"/>
          </a:xfrm>
          <a:prstGeom prst="line">
            <a:avLst/>
          </a:prstGeom>
          <a:noFill/>
          <a:ln w="101600" cap="flat" cmpd="sng" algn="ctr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cxnSp>
        <p:nvCxnSpPr>
          <p:cNvPr id="4" name="直线连接符 55"/>
          <p:cNvCxnSpPr/>
          <p:nvPr/>
        </p:nvCxnSpPr>
        <p:spPr>
          <a:xfrm flipH="1">
            <a:off x="-7622" y="2240280"/>
            <a:ext cx="12204000" cy="0"/>
          </a:xfrm>
          <a:prstGeom prst="line">
            <a:avLst/>
          </a:prstGeom>
          <a:noFill/>
          <a:ln w="101600" cap="flat" cmpd="sng" algn="ctr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5" name="文本框 4"/>
          <p:cNvSpPr txBox="1"/>
          <p:nvPr/>
        </p:nvSpPr>
        <p:spPr>
          <a:xfrm>
            <a:off x="4331495" y="3130988"/>
            <a:ext cx="354076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E9C79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研究内容</a:t>
            </a:r>
            <a:endParaRPr kumimoji="1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E9C79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99135" y="2665901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第三部分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线连接符 5"/>
          <p:cNvCxnSpPr/>
          <p:nvPr/>
        </p:nvCxnSpPr>
        <p:spPr>
          <a:xfrm flipH="1">
            <a:off x="4424681" y="293257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8" name="直线连接符 60"/>
          <p:cNvCxnSpPr/>
          <p:nvPr/>
        </p:nvCxnSpPr>
        <p:spPr>
          <a:xfrm flipH="1">
            <a:off x="7000241" y="293257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55" name="直线连接符 109"/>
          <p:cNvCxnSpPr/>
          <p:nvPr/>
        </p:nvCxnSpPr>
        <p:spPr>
          <a:xfrm flipH="1">
            <a:off x="4424681" y="440323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56" name="直线连接符 110"/>
          <p:cNvCxnSpPr/>
          <p:nvPr/>
        </p:nvCxnSpPr>
        <p:spPr>
          <a:xfrm flipH="1">
            <a:off x="6893561" y="440323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660" y="4311615"/>
            <a:ext cx="1144061" cy="251567"/>
          </a:xfrm>
          <a:prstGeom prst="rect">
            <a:avLst/>
          </a:prstGeom>
        </p:spPr>
      </p:pic>
      <p:sp>
        <p:nvSpPr>
          <p:cNvPr id="12" name="副标题 2"/>
          <p:cNvSpPr txBox="1"/>
          <p:nvPr/>
        </p:nvSpPr>
        <p:spPr>
          <a:xfrm>
            <a:off x="2452443" y="5901541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  </a:t>
            </a:r>
            <a:r>
              <a:rPr kumimoji="0" lang="zh-CN" altLang="en-US" sz="18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8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方正小标宋简体" panose="02000000000000000000" pitchFamily="65" charset="-122"/>
              <a:ea typeface="方正小标宋简体" panose="02000000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078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研究内容</a:t>
            </a:r>
            <a:endParaRPr kumimoji="1" lang="zh-CN" altLang="en-US" sz="2800" b="1" i="0" kern="1200" cap="none" spc="0" normalizeH="0" baseline="0" noProof="0" dirty="0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2472" t="-11858" b="-1"/>
          <a:stretch>
            <a:fillRect/>
          </a:stretch>
        </p:blipFill>
        <p:spPr>
          <a:xfrm>
            <a:off x="9966298" y="77204"/>
            <a:ext cx="1982146" cy="5232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sp>
        <p:nvSpPr>
          <p:cNvPr id="92" name="Rounded Rectangle 91"/>
          <p:cNvSpPr/>
          <p:nvPr/>
        </p:nvSpPr>
        <p:spPr>
          <a:xfrm>
            <a:off x="420370" y="1033671"/>
            <a:ext cx="2860764" cy="401937"/>
          </a:xfrm>
          <a:prstGeom prst="roundRect">
            <a:avLst/>
          </a:prstGeom>
          <a:solidFill>
            <a:srgbClr val="567EB4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dirty="0" err="1"/>
              <a:t>感知层</a:t>
            </a:r>
            <a:r>
              <a:rPr dirty="0"/>
              <a:t> (Sensing)</a:t>
            </a:r>
            <a:endParaRPr dirty="0"/>
          </a:p>
        </p:txBody>
      </p:sp>
      <p:sp>
        <p:nvSpPr>
          <p:cNvPr id="93" name="Rounded Rectangle 92"/>
          <p:cNvSpPr/>
          <p:nvPr/>
        </p:nvSpPr>
        <p:spPr>
          <a:xfrm>
            <a:off x="3790397" y="1033671"/>
            <a:ext cx="4790661" cy="401937"/>
          </a:xfrm>
          <a:prstGeom prst="roundRect">
            <a:avLst/>
          </a:prstGeom>
          <a:solidFill>
            <a:srgbClr val="567EB4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dirty="0" err="1"/>
              <a:t>核心算法层</a:t>
            </a:r>
            <a:r>
              <a:rPr dirty="0"/>
              <a:t> (Core)</a:t>
            </a:r>
            <a:endParaRPr dirty="0"/>
          </a:p>
        </p:txBody>
      </p:sp>
      <p:sp>
        <p:nvSpPr>
          <p:cNvPr id="95" name="Rounded Rectangle 94"/>
          <p:cNvSpPr/>
          <p:nvPr/>
        </p:nvSpPr>
        <p:spPr>
          <a:xfrm>
            <a:off x="9126764" y="1033671"/>
            <a:ext cx="1223460" cy="401937"/>
          </a:xfrm>
          <a:prstGeom prst="roundRect">
            <a:avLst/>
          </a:prstGeom>
          <a:solidFill>
            <a:srgbClr val="567EB4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dirty="0" err="1"/>
              <a:t>数据层</a:t>
            </a:r>
            <a:r>
              <a:rPr dirty="0"/>
              <a:t> (Data)</a:t>
            </a:r>
            <a:endParaRPr dirty="0"/>
          </a:p>
        </p:txBody>
      </p:sp>
      <p:sp>
        <p:nvSpPr>
          <p:cNvPr id="96" name="Rounded Rectangle 95"/>
          <p:cNvSpPr/>
          <p:nvPr/>
        </p:nvSpPr>
        <p:spPr>
          <a:xfrm>
            <a:off x="312420" y="2118360"/>
            <a:ext cx="1156335" cy="145288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</a:p>
          <a:p>
            <a:pPr algn="ctr"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600"/>
              <a:t>标准视频</a:t>
            </a:r>
            <a:br>
              <a:rPr sz="1600"/>
            </a:br>
            <a:r>
              <a:rPr sz="1600"/>
              <a:t>用户视频</a:t>
            </a:r>
            <a:endParaRPr sz="1600"/>
          </a:p>
          <a:p>
            <a:pPr algn="ctr"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600"/>
          </a:p>
        </p:txBody>
      </p:sp>
      <p:sp>
        <p:nvSpPr>
          <p:cNvPr id="97" name="Right Arrow 96"/>
          <p:cNvSpPr/>
          <p:nvPr/>
        </p:nvSpPr>
        <p:spPr>
          <a:xfrm>
            <a:off x="1605642" y="2346960"/>
            <a:ext cx="320040" cy="320040"/>
          </a:xfrm>
          <a:prstGeom prst="rightArrow">
            <a:avLst/>
          </a:prstGeom>
          <a:solidFill>
            <a:srgbClr val="567EB4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2063115" y="2118360"/>
            <a:ext cx="1156335" cy="145288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endParaRPr dirty="0"/>
          </a:p>
          <a:p>
            <a:pPr algn="ctr">
              <a:buClrTx/>
              <a:buSzTx/>
              <a:buFontTx/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400"/>
              <a:t>关键点提取</a:t>
            </a:r>
            <a:br>
              <a:rPr sz="1400"/>
            </a:br>
            <a:r>
              <a:rPr sz="1400"/>
              <a:t>MediaPipe/OpenPose</a:t>
            </a:r>
            <a:br>
              <a:rPr sz="1400"/>
            </a:br>
            <a:r>
              <a:rPr sz="1400"/>
              <a:t>+ 归一化</a:t>
            </a:r>
            <a:endParaRPr sz="1400"/>
          </a:p>
          <a:p>
            <a:pPr algn="ctr">
              <a:buClrTx/>
              <a:buSzTx/>
              <a:buFontTx/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400"/>
          </a:p>
        </p:txBody>
      </p:sp>
      <p:sp>
        <p:nvSpPr>
          <p:cNvPr id="99" name="Right Arrow 98"/>
          <p:cNvSpPr/>
          <p:nvPr/>
        </p:nvSpPr>
        <p:spPr>
          <a:xfrm>
            <a:off x="3356065" y="2346960"/>
            <a:ext cx="320040" cy="320040"/>
          </a:xfrm>
          <a:prstGeom prst="rightArrow">
            <a:avLst/>
          </a:prstGeom>
          <a:solidFill>
            <a:srgbClr val="567EB4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3813175" y="2118360"/>
            <a:ext cx="1156335" cy="145288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</a:p>
          <a:p>
            <a:pPr algn="ctr"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600"/>
              <a:t>融合特征</a:t>
            </a:r>
            <a:br>
              <a:rPr sz="1600"/>
            </a:br>
            <a:r>
              <a:rPr sz="1600"/>
              <a:t>(x̂ + v + θ)</a:t>
            </a:r>
            <a:endParaRPr sz="1600"/>
          </a:p>
          <a:p>
            <a:pPr algn="ctr"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600"/>
          </a:p>
        </p:txBody>
      </p:sp>
      <p:sp>
        <p:nvSpPr>
          <p:cNvPr id="101" name="Right Arrow 100"/>
          <p:cNvSpPr/>
          <p:nvPr/>
        </p:nvSpPr>
        <p:spPr>
          <a:xfrm>
            <a:off x="5106488" y="2346960"/>
            <a:ext cx="320040" cy="320040"/>
          </a:xfrm>
          <a:prstGeom prst="rightArrow">
            <a:avLst/>
          </a:prstGeom>
          <a:solidFill>
            <a:srgbClr val="567EB4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5563870" y="2118360"/>
            <a:ext cx="1156335" cy="145288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endParaRPr dirty="0"/>
          </a:p>
          <a:p>
            <a:pPr algn="ctr"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600" dirty="0">
                <a:latin typeface="Times New Roman" panose="02020603050405020304" charset="0"/>
                <a:cs typeface="Times New Roman" panose="02020603050405020304" charset="0"/>
              </a:rPr>
              <a:t>DTW </a:t>
            </a:r>
            <a:r>
              <a:rPr sz="1600" dirty="0" err="1"/>
              <a:t>动态对齐</a:t>
            </a:r>
            <a:br>
              <a:rPr sz="1600" dirty="0"/>
            </a:br>
            <a:r>
              <a:rPr sz="1600" dirty="0"/>
              <a:t>(</a:t>
            </a:r>
            <a:r>
              <a:rPr sz="1600" dirty="0" err="1"/>
              <a:t>核心</a:t>
            </a:r>
            <a:r>
              <a:rPr sz="1600" dirty="0"/>
              <a:t>)</a:t>
            </a:r>
            <a:endParaRPr sz="1600" dirty="0"/>
          </a:p>
          <a:p>
            <a:pPr algn="ctr"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600" dirty="0"/>
          </a:p>
        </p:txBody>
      </p:sp>
      <p:sp>
        <p:nvSpPr>
          <p:cNvPr id="103" name="Right Arrow 102"/>
          <p:cNvSpPr/>
          <p:nvPr/>
        </p:nvSpPr>
        <p:spPr>
          <a:xfrm>
            <a:off x="6856911" y="2346960"/>
            <a:ext cx="320040" cy="320040"/>
          </a:xfrm>
          <a:prstGeom prst="rightArrow">
            <a:avLst/>
          </a:prstGeom>
          <a:solidFill>
            <a:srgbClr val="567EB4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313930" y="2118360"/>
            <a:ext cx="1156335" cy="145288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</a:p>
          <a:p>
            <a:pPr algn="ctr"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600"/>
              <a:t>误差计算引擎</a:t>
            </a:r>
            <a:br>
              <a:rPr sz="1600"/>
            </a:br>
            <a:r>
              <a:rPr sz="1600"/>
              <a:t>空间 + 节奏</a:t>
            </a:r>
            <a:endParaRPr sz="1600"/>
          </a:p>
          <a:p>
            <a:pPr algn="ctr"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600"/>
          </a:p>
        </p:txBody>
      </p:sp>
      <p:sp>
        <p:nvSpPr>
          <p:cNvPr id="105" name="Right Arrow 104"/>
          <p:cNvSpPr/>
          <p:nvPr/>
        </p:nvSpPr>
        <p:spPr>
          <a:xfrm>
            <a:off x="8607334" y="2346960"/>
            <a:ext cx="320040" cy="320040"/>
          </a:xfrm>
          <a:prstGeom prst="rightArrow">
            <a:avLst/>
          </a:prstGeom>
          <a:solidFill>
            <a:srgbClr val="567EB4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9064625" y="2118360"/>
            <a:ext cx="1156335" cy="145288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endParaRPr dirty="0"/>
          </a:p>
          <a:p>
            <a:pPr algn="ctr"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600" dirty="0">
                <a:latin typeface="Times New Roman" panose="02020603050405020304" charset="0"/>
                <a:cs typeface="Times New Roman" panose="02020603050405020304" charset="0"/>
              </a:rPr>
              <a:t>timeline / report</a:t>
            </a:r>
            <a:br>
              <a:rPr sz="16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600" dirty="0" err="1"/>
              <a:t>图表</a:t>
            </a:r>
            <a:r>
              <a:rPr sz="1600" dirty="0">
                <a:latin typeface="Times New Roman" panose="02020603050405020304" charset="0"/>
                <a:cs typeface="Times New Roman" panose="02020603050405020304" charset="0"/>
              </a:rPr>
              <a:t> / overlay</a:t>
            </a:r>
            <a:endParaRPr sz="1600" dirty="0"/>
          </a:p>
          <a:p>
            <a:pPr algn="ctr"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600" dirty="0"/>
          </a:p>
        </p:txBody>
      </p:sp>
      <p:sp>
        <p:nvSpPr>
          <p:cNvPr id="107" name="Right Arrow 106"/>
          <p:cNvSpPr/>
          <p:nvPr/>
        </p:nvSpPr>
        <p:spPr>
          <a:xfrm>
            <a:off x="10357757" y="2346960"/>
            <a:ext cx="320040" cy="320040"/>
          </a:xfrm>
          <a:prstGeom prst="rightArrow">
            <a:avLst/>
          </a:prstGeom>
          <a:solidFill>
            <a:srgbClr val="567EB4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10710545" y="2105660"/>
            <a:ext cx="1156335" cy="146558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endParaRPr dirty="0"/>
          </a:p>
          <a:p>
            <a:pPr algn="ctr"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600" dirty="0" err="1"/>
              <a:t>前端展示</a:t>
            </a:r>
            <a:br>
              <a:rPr sz="1600" dirty="0"/>
            </a:br>
            <a:r>
              <a:rPr sz="1600" dirty="0" err="1"/>
              <a:t>同步播放+反馈</a:t>
            </a:r>
            <a:endParaRPr sz="1600" dirty="0" err="1"/>
          </a:p>
        </p:txBody>
      </p:sp>
      <p:sp>
        <p:nvSpPr>
          <p:cNvPr id="109" name="Rounded Rectangle 108"/>
          <p:cNvSpPr/>
          <p:nvPr/>
        </p:nvSpPr>
        <p:spPr>
          <a:xfrm>
            <a:off x="441960" y="4413873"/>
            <a:ext cx="3337560" cy="822960"/>
          </a:xfrm>
          <a:prstGeom prst="roundRect">
            <a:avLst/>
          </a:prstGeom>
          <a:solidFill>
            <a:srgbClr val="FAFCFF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2060"/>
                </a:solidFill>
                <a:latin typeface="微软雅黑" panose="020B0503020204020204" pitchFamily="34" charset="-122"/>
              </a:defRPr>
            </a:pPr>
            <a:r>
              <a:rPr sz="2000" dirty="0" err="1"/>
              <a:t>标准动作库</a:t>
            </a:r>
            <a:endParaRPr sz="2000" dirty="0"/>
          </a:p>
          <a:p>
            <a:pPr algn="ctr">
              <a:defRPr sz="11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 dirty="0" err="1"/>
              <a:t>标准舞蹈视频</a:t>
            </a:r>
            <a:r>
              <a:rPr sz="1800" dirty="0"/>
              <a:t>/</a:t>
            </a:r>
            <a:r>
              <a:rPr sz="1800" dirty="0" err="1"/>
              <a:t>标注</a:t>
            </a:r>
            <a:endParaRPr sz="1800" dirty="0" err="1"/>
          </a:p>
        </p:txBody>
      </p:sp>
      <p:sp>
        <p:nvSpPr>
          <p:cNvPr id="110" name="Rounded Rectangle 109"/>
          <p:cNvSpPr/>
          <p:nvPr/>
        </p:nvSpPr>
        <p:spPr>
          <a:xfrm>
            <a:off x="4260574" y="4413873"/>
            <a:ext cx="4582979" cy="822960"/>
          </a:xfrm>
          <a:prstGeom prst="roundRect">
            <a:avLst/>
          </a:prstGeom>
          <a:solidFill>
            <a:srgbClr val="FAFCFF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2060"/>
                </a:solidFill>
                <a:latin typeface="微软雅黑" panose="020B0503020204020204" pitchFamily="34" charset="-122"/>
              </a:defRPr>
            </a:pPr>
            <a:r>
              <a:rPr sz="2000"/>
              <a:t>用户历史记录</a:t>
            </a:r>
            <a:endParaRPr sz="2000"/>
          </a:p>
          <a:p>
            <a:pPr algn="ctr">
              <a:defRPr sz="11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/>
              <a:t>多次练习对比</a:t>
            </a:r>
            <a:endParaRPr sz="1800"/>
          </a:p>
        </p:txBody>
      </p:sp>
      <p:sp>
        <p:nvSpPr>
          <p:cNvPr id="111" name="Rounded Rectangle 110"/>
          <p:cNvSpPr/>
          <p:nvPr/>
        </p:nvSpPr>
        <p:spPr>
          <a:xfrm>
            <a:off x="9225915" y="4384040"/>
            <a:ext cx="2421890" cy="822960"/>
          </a:xfrm>
          <a:prstGeom prst="roundRect">
            <a:avLst/>
          </a:prstGeom>
          <a:solidFill>
            <a:srgbClr val="FAFCFF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2060"/>
                </a:solidFill>
                <a:latin typeface="微软雅黑" panose="020B0503020204020204" pitchFamily="34" charset="-122"/>
              </a:defRPr>
            </a:pPr>
            <a:r>
              <a:rPr sz="2000" dirty="0" err="1"/>
              <a:t>产物目录</a:t>
            </a:r>
            <a:endParaRPr sz="2000" dirty="0"/>
          </a:p>
          <a:p>
            <a:pPr algn="ctr">
              <a:defRPr sz="11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uploads/data/outputs</a:t>
            </a: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Rounded Rectangle 94"/>
          <p:cNvSpPr/>
          <p:nvPr/>
        </p:nvSpPr>
        <p:spPr>
          <a:xfrm>
            <a:off x="10740027" y="1033671"/>
            <a:ext cx="1156062" cy="401937"/>
          </a:xfrm>
          <a:prstGeom prst="roundRect">
            <a:avLst/>
          </a:prstGeom>
          <a:solidFill>
            <a:srgbClr val="567EB4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 altLang="en-US" dirty="0"/>
              <a:t>应用层（</a:t>
            </a:r>
            <a:r>
              <a:rPr lang="en-US" altLang="zh-CN" dirty="0"/>
              <a:t>APP</a:t>
            </a:r>
            <a:r>
              <a:rPr lang="zh-CN" altLang="en-US" dirty="0"/>
              <a:t>）</a:t>
            </a:r>
            <a:endParaRPr dirty="0"/>
          </a:p>
        </p:txBody>
      </p:sp>
      <p:sp>
        <p:nvSpPr>
          <p:cNvPr id="5" name="文本框 4"/>
          <p:cNvSpPr txBox="1"/>
          <p:nvPr/>
        </p:nvSpPr>
        <p:spPr>
          <a:xfrm>
            <a:off x="508000" y="1723390"/>
            <a:ext cx="7651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b="1" dirty="0" err="1">
                <a:solidFill>
                  <a:srgbClr val="ED7D31"/>
                </a:solidFill>
                <a:latin typeface="微软雅黑" panose="020B0503020204020204" pitchFamily="34" charset="-122"/>
                <a:sym typeface="+mn-ea"/>
              </a:rPr>
              <a:t>输入</a:t>
            </a:r>
            <a:endParaRPr lang="zh-CN" altLang="en-US" b="1" dirty="0" err="1">
              <a:solidFill>
                <a:srgbClr val="ED7D3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26640" y="1723390"/>
            <a:ext cx="7651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b="1" dirty="0" err="1">
                <a:solidFill>
                  <a:srgbClr val="ED7D31"/>
                </a:solidFill>
                <a:latin typeface="微软雅黑" panose="020B0503020204020204" pitchFamily="34" charset="-122"/>
                <a:sym typeface="+mn-ea"/>
              </a:rPr>
              <a:t>感知</a:t>
            </a:r>
            <a:endParaRPr lang="zh-CN" b="1" dirty="0" err="1">
              <a:solidFill>
                <a:srgbClr val="ED7D3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08755" y="1723390"/>
            <a:ext cx="7651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b="1" dirty="0" err="1">
                <a:solidFill>
                  <a:srgbClr val="ED7D31"/>
                </a:solidFill>
                <a:latin typeface="微软雅黑" panose="020B0503020204020204" pitchFamily="34" charset="-122"/>
                <a:sym typeface="+mn-ea"/>
              </a:rPr>
              <a:t>特征</a:t>
            </a:r>
            <a:endParaRPr lang="zh-CN" b="1" dirty="0" err="1">
              <a:solidFill>
                <a:srgbClr val="ED7D3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59450" y="1723390"/>
            <a:ext cx="7651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b="1" dirty="0" err="1">
                <a:solidFill>
                  <a:srgbClr val="ED7D31"/>
                </a:solidFill>
                <a:latin typeface="微软雅黑" panose="020B0503020204020204" pitchFamily="34" charset="-122"/>
                <a:sym typeface="+mn-ea"/>
              </a:rPr>
              <a:t>对齐</a:t>
            </a:r>
            <a:endParaRPr lang="zh-CN" b="1" dirty="0" err="1">
              <a:solidFill>
                <a:srgbClr val="ED7D3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10145" y="1723390"/>
            <a:ext cx="7651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b="1" dirty="0" err="1">
                <a:solidFill>
                  <a:srgbClr val="ED7D31"/>
                </a:solidFill>
                <a:latin typeface="微软雅黑" panose="020B0503020204020204" pitchFamily="34" charset="-122"/>
                <a:sym typeface="+mn-ea"/>
              </a:rPr>
              <a:t>评估</a:t>
            </a:r>
            <a:endParaRPr lang="zh-CN" b="1" dirty="0" err="1">
              <a:solidFill>
                <a:srgbClr val="ED7D3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259570" y="1723390"/>
            <a:ext cx="7651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b="1" dirty="0" err="1">
                <a:solidFill>
                  <a:srgbClr val="ED7D31"/>
                </a:solidFill>
                <a:latin typeface="微软雅黑" panose="020B0503020204020204" pitchFamily="34" charset="-122"/>
                <a:sym typeface="+mn-ea"/>
              </a:rPr>
              <a:t>产物</a:t>
            </a:r>
            <a:endParaRPr lang="zh-CN" b="1" dirty="0" err="1">
              <a:solidFill>
                <a:srgbClr val="ED7D3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881995" y="1723390"/>
            <a:ext cx="7651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b="1" dirty="0" err="1">
                <a:solidFill>
                  <a:srgbClr val="ED7D31"/>
                </a:solidFill>
                <a:latin typeface="微软雅黑" panose="020B0503020204020204" pitchFamily="34" charset="-122"/>
                <a:sym typeface="+mn-ea"/>
              </a:rPr>
              <a:t>交互</a:t>
            </a:r>
            <a:endParaRPr lang="zh-CN" b="1" dirty="0" err="1">
              <a:solidFill>
                <a:srgbClr val="ED7D31"/>
              </a:solidFill>
              <a:latin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t="34000" b="25333"/>
          <a:stretch>
            <a:fillRect/>
          </a:stretch>
        </p:blipFill>
        <p:spPr>
          <a:xfrm>
            <a:off x="0" y="2240280"/>
            <a:ext cx="12192000" cy="2788920"/>
          </a:xfrm>
          <a:prstGeom prst="rect">
            <a:avLst/>
          </a:prstGeom>
        </p:spPr>
      </p:pic>
      <p:cxnSp>
        <p:nvCxnSpPr>
          <p:cNvPr id="3" name="直线连接符 54"/>
          <p:cNvCxnSpPr/>
          <p:nvPr/>
        </p:nvCxnSpPr>
        <p:spPr>
          <a:xfrm flipH="1">
            <a:off x="-7622" y="5013960"/>
            <a:ext cx="12204000" cy="0"/>
          </a:xfrm>
          <a:prstGeom prst="line">
            <a:avLst/>
          </a:prstGeom>
          <a:noFill/>
          <a:ln w="101600" cap="flat" cmpd="sng" algn="ctr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cxnSp>
        <p:nvCxnSpPr>
          <p:cNvPr id="4" name="直线连接符 55"/>
          <p:cNvCxnSpPr/>
          <p:nvPr/>
        </p:nvCxnSpPr>
        <p:spPr>
          <a:xfrm flipH="1">
            <a:off x="-7622" y="2240280"/>
            <a:ext cx="12204000" cy="0"/>
          </a:xfrm>
          <a:prstGeom prst="line">
            <a:avLst/>
          </a:prstGeom>
          <a:noFill/>
          <a:ln w="101600" cap="flat" cmpd="sng" algn="ctr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5" name="文本框 4"/>
          <p:cNvSpPr txBox="1"/>
          <p:nvPr/>
        </p:nvSpPr>
        <p:spPr>
          <a:xfrm>
            <a:off x="4331495" y="3130988"/>
            <a:ext cx="354076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E9C79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研究方法</a:t>
            </a:r>
            <a:endParaRPr kumimoji="1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E9C79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99135" y="2665901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第四部分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线连接符 5"/>
          <p:cNvCxnSpPr/>
          <p:nvPr/>
        </p:nvCxnSpPr>
        <p:spPr>
          <a:xfrm flipH="1">
            <a:off x="4424681" y="293257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8" name="直线连接符 60"/>
          <p:cNvCxnSpPr/>
          <p:nvPr/>
        </p:nvCxnSpPr>
        <p:spPr>
          <a:xfrm flipH="1">
            <a:off x="7000241" y="293257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55" name="直线连接符 109"/>
          <p:cNvCxnSpPr/>
          <p:nvPr/>
        </p:nvCxnSpPr>
        <p:spPr>
          <a:xfrm flipH="1">
            <a:off x="4424681" y="440323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56" name="直线连接符 110"/>
          <p:cNvCxnSpPr/>
          <p:nvPr/>
        </p:nvCxnSpPr>
        <p:spPr>
          <a:xfrm flipH="1">
            <a:off x="6893561" y="440323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660" y="4311615"/>
            <a:ext cx="1144061" cy="251567"/>
          </a:xfrm>
          <a:prstGeom prst="rect">
            <a:avLst/>
          </a:prstGeom>
        </p:spPr>
      </p:pic>
      <p:sp>
        <p:nvSpPr>
          <p:cNvPr id="12" name="副标题 2"/>
          <p:cNvSpPr txBox="1"/>
          <p:nvPr/>
        </p:nvSpPr>
        <p:spPr>
          <a:xfrm>
            <a:off x="2452443" y="5901541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  </a:t>
            </a:r>
            <a:r>
              <a:rPr kumimoji="0" lang="zh-CN" altLang="en-US" sz="18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8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方正小标宋简体" panose="02000000000000000000" pitchFamily="65" charset="-122"/>
              <a:ea typeface="方正小标宋简体" panose="02000000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078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研究方法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3"/>
          <a:stretch>
            <a:fillRect/>
          </a:stretch>
        </p:blipFill>
        <p:spPr>
          <a:xfrm>
            <a:off x="9996854" y="153772"/>
            <a:ext cx="1863310" cy="407353"/>
          </a:xfrm>
          <a:prstGeom prst="rect">
            <a:avLst/>
          </a:prstGeom>
        </p:spPr>
      </p:pic>
      <p:sp>
        <p:nvSpPr>
          <p:cNvPr id="91" name="Rounded Rectangle 90"/>
          <p:cNvSpPr/>
          <p:nvPr>
            <p:custDataLst>
              <p:tags r:id="rId4"/>
            </p:custDataLst>
          </p:nvPr>
        </p:nvSpPr>
        <p:spPr>
          <a:xfrm>
            <a:off x="822960" y="1325880"/>
            <a:ext cx="3520440" cy="443484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 dirty="0">
              <a:sym typeface="+mn-ea"/>
            </a:endParaRP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 dirty="0">
              <a:sym typeface="+mn-ea"/>
            </a:endParaRP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 dirty="0" err="1">
                <a:sym typeface="+mn-ea"/>
              </a:rPr>
              <a:t>融合特征：f_t</a:t>
            </a:r>
            <a:r>
              <a:rPr sz="1800" dirty="0">
                <a:sym typeface="+mn-ea"/>
              </a:rPr>
              <a:t> = [</a:t>
            </a:r>
            <a:r>
              <a:rPr sz="1800" dirty="0" err="1">
                <a:sym typeface="+mn-ea"/>
              </a:rPr>
              <a:t>x̂_t</a:t>
            </a:r>
            <a:r>
              <a:rPr sz="1800" dirty="0">
                <a:sym typeface="+mn-ea"/>
              </a:rPr>
              <a:t>, </a:t>
            </a:r>
            <a:r>
              <a:rPr sz="1800" dirty="0" err="1">
                <a:sym typeface="+mn-ea"/>
              </a:rPr>
              <a:t>v_t</a:t>
            </a:r>
            <a:r>
              <a:rPr sz="1800" dirty="0">
                <a:sym typeface="+mn-ea"/>
              </a:rPr>
              <a:t>, </a:t>
            </a:r>
            <a:r>
              <a:rPr sz="1800" dirty="0" err="1">
                <a:sym typeface="+mn-ea"/>
              </a:rPr>
              <a:t>θ_t</a:t>
            </a:r>
            <a:r>
              <a:rPr sz="1800" dirty="0">
                <a:sym typeface="+mn-ea"/>
              </a:rPr>
              <a:t>]</a:t>
            </a:r>
            <a:endParaRPr sz="1800" dirty="0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 dirty="0">
                <a:sym typeface="+mn-ea"/>
              </a:rPr>
              <a:t>• x̂：</a:t>
            </a:r>
            <a:r>
              <a:rPr sz="1800" dirty="0" err="1">
                <a:sym typeface="+mn-ea"/>
              </a:rPr>
              <a:t>归一化坐标；v：肢体向量；θ：关节角</a:t>
            </a:r>
            <a:endParaRPr sz="1800" dirty="0" err="1">
              <a:sym typeface="+mn-ea"/>
            </a:endParaRP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 dirty="0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 dirty="0" err="1">
                <a:sym typeface="+mn-ea"/>
              </a:rPr>
              <a:t>引入置信度过滤</a:t>
            </a:r>
            <a:r>
              <a:rPr sz="1800" dirty="0">
                <a:sym typeface="+mn-ea"/>
              </a:rPr>
              <a:t> </a:t>
            </a:r>
            <a:r>
              <a:rPr sz="1800" dirty="0" err="1">
                <a:sym typeface="+mn-ea"/>
              </a:rPr>
              <a:t>m_t，遮挡</a:t>
            </a:r>
            <a:r>
              <a:rPr sz="1800" dirty="0">
                <a:sym typeface="+mn-ea"/>
              </a:rPr>
              <a:t>/</a:t>
            </a:r>
            <a:r>
              <a:rPr sz="1800" dirty="0" err="1">
                <a:sym typeface="+mn-ea"/>
              </a:rPr>
              <a:t>抖动点降权</a:t>
            </a:r>
            <a:endParaRPr sz="1800" dirty="0" err="1">
              <a:sym typeface="+mn-ea"/>
            </a:endParaRP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 dirty="0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 dirty="0" err="1">
                <a:sym typeface="+mn-ea"/>
              </a:rPr>
              <a:t>平滑去抖</a:t>
            </a:r>
            <a:r>
              <a:rPr sz="18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（Savitzky‑Golay</a:t>
            </a:r>
            <a:r>
              <a:rPr sz="1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/ </a:t>
            </a:r>
            <a:r>
              <a:rPr sz="18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EMA）</a:t>
            </a:r>
            <a:r>
              <a:rPr sz="1800" dirty="0" err="1">
                <a:sym typeface="+mn-ea"/>
              </a:rPr>
              <a:t>提升稳定性</a:t>
            </a:r>
            <a:endParaRPr sz="1800" dirty="0" err="1"/>
          </a:p>
        </p:txBody>
      </p:sp>
      <p:sp>
        <p:nvSpPr>
          <p:cNvPr id="92" name="Rounded Rectangle 91"/>
          <p:cNvSpPr/>
          <p:nvPr>
            <p:custDataLst>
              <p:tags r:id="rId5"/>
            </p:custDataLst>
          </p:nvPr>
        </p:nvSpPr>
        <p:spPr>
          <a:xfrm>
            <a:off x="4468094" y="1285707"/>
            <a:ext cx="3520440" cy="443484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>
              <a:sym typeface="+mn-ea"/>
            </a:endParaRP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>
              <a:sym typeface="+mn-ea"/>
            </a:endParaRP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>
              <a:sym typeface="+mn-ea"/>
            </a:endParaRP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DTW </a:t>
            </a:r>
            <a:r>
              <a:rPr sz="1800">
                <a:sym typeface="+mn-ea"/>
              </a:rPr>
              <a:t>求最优路径 P={(i_k,j_k)}</a:t>
            </a:r>
            <a:endParaRPr sz="1800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>
              <a:sym typeface="+mn-ea"/>
            </a:endParaRP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>
                <a:sym typeface="+mn-ea"/>
              </a:rPr>
              <a:t>窗口约束：|i − j| ≤ w，防跨段误匹配</a:t>
            </a:r>
            <a:endParaRPr sz="1800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>
              <a:sym typeface="+mn-ea"/>
            </a:endParaRP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>
                <a:sym typeface="+mn-ea"/>
              </a:rPr>
              <a:t>斜率/步长限制：控制局部拉伸，避免“过度扭曲匹配”</a:t>
            </a:r>
            <a:endParaRPr sz="1800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>
              <a:sym typeface="+mn-ea"/>
            </a:endParaRP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>
                <a:sym typeface="+mn-ea"/>
              </a:rPr>
              <a:t>输出对齐路径用于节奏偏差（快/慢）定位</a:t>
            </a:r>
            <a:endParaRPr sz="1800"/>
          </a:p>
        </p:txBody>
      </p:sp>
      <p:sp>
        <p:nvSpPr>
          <p:cNvPr id="93" name="Rounded Rectangle 92"/>
          <p:cNvSpPr/>
          <p:nvPr>
            <p:custDataLst>
              <p:tags r:id="rId6"/>
            </p:custDataLst>
          </p:nvPr>
        </p:nvSpPr>
        <p:spPr>
          <a:xfrm>
            <a:off x="8086207" y="1264938"/>
            <a:ext cx="3520440" cy="443484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 dirty="0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 dirty="0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 dirty="0" err="1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 dirty="0" err="1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 dirty="0" err="1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 dirty="0" err="1"/>
              <a:t>E_spatial：对齐后空间误差（幅度</a:t>
            </a:r>
            <a:r>
              <a:rPr sz="1800" dirty="0"/>
              <a:t>/</a:t>
            </a:r>
            <a:r>
              <a:rPr sz="1800" dirty="0" err="1"/>
              <a:t>角度</a:t>
            </a:r>
            <a:r>
              <a:rPr sz="1800" dirty="0"/>
              <a:t>）</a:t>
            </a:r>
            <a:endParaRPr sz="1800" dirty="0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 dirty="0" err="1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 dirty="0" err="1"/>
              <a:t>E_rhythm：由路径斜率得到节奏误差</a:t>
            </a:r>
            <a:endParaRPr sz="1800" dirty="0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 dirty="0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 dirty="0"/>
              <a:t>Score = w1·E_spatial + w2·E_rhythm</a:t>
            </a:r>
            <a:endParaRPr sz="1800" dirty="0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 dirty="0" err="1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 dirty="0" err="1"/>
              <a:t>输出</a:t>
            </a:r>
            <a:r>
              <a:rPr sz="1800" dirty="0"/>
              <a:t> Top‑K </a:t>
            </a:r>
            <a:r>
              <a:rPr sz="1800" dirty="0" err="1"/>
              <a:t>错误关节</a:t>
            </a:r>
            <a:r>
              <a:rPr sz="1800" dirty="0"/>
              <a:t> + Segment </a:t>
            </a:r>
            <a:r>
              <a:rPr sz="1800" dirty="0" err="1"/>
              <a:t>片段建议</a:t>
            </a:r>
            <a:endParaRPr sz="1800" dirty="0" err="1"/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endParaRPr sz="1800" dirty="0" err="1"/>
          </a:p>
        </p:txBody>
      </p:sp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818515" y="1505585"/>
            <a:ext cx="352488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spcAft>
                <a:spcPts val="400"/>
              </a:spcAft>
              <a:defRPr sz="15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r>
              <a:rPr sz="2000" dirty="0">
                <a:sym typeface="+mn-ea"/>
              </a:rPr>
              <a:t>策略1：鲁棒特征构建</a:t>
            </a:r>
            <a:br>
              <a:rPr sz="2000" dirty="0">
                <a:sym typeface="+mn-ea"/>
              </a:rPr>
            </a:br>
            <a:r>
              <a:rPr sz="2000" dirty="0">
                <a:sym typeface="+mn-ea"/>
              </a:rPr>
              <a:t>(Feature Engineering)</a:t>
            </a:r>
            <a:endParaRPr lang="zh-CN" altLang="en-US" sz="2000" dirty="0"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4467860" y="1505585"/>
            <a:ext cx="352107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spcAft>
                <a:spcPts val="400"/>
              </a:spcAft>
              <a:defRPr sz="15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r>
              <a:rPr sz="2000">
                <a:sym typeface="+mn-ea"/>
              </a:rPr>
              <a:t>策略2：改进对齐算法</a:t>
            </a:r>
            <a:br>
              <a:rPr sz="2000">
                <a:sym typeface="+mn-ea"/>
              </a:rPr>
            </a:br>
            <a:r>
              <a:rPr sz="2000">
                <a:sym typeface="+mn-ea"/>
              </a:rPr>
              <a:t>(Alignment Strategy)</a:t>
            </a:r>
            <a:endParaRPr lang="zh-CN" altLang="en-US" sz="2000"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8085455" y="1505585"/>
            <a:ext cx="352044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spcAft>
                <a:spcPts val="400"/>
              </a:spcAft>
              <a:defRPr sz="1500" b="1">
                <a:solidFill>
                  <a:srgbClr val="ED7D31"/>
                </a:solidFill>
                <a:latin typeface="微软雅黑" panose="020B0503020204020204" pitchFamily="34" charset="-122"/>
              </a:defRPr>
            </a:pPr>
            <a:r>
              <a:rPr sz="2000" dirty="0">
                <a:sym typeface="+mn-ea"/>
              </a:rPr>
              <a:t>策略3：多维评分模型</a:t>
            </a:r>
            <a:br>
              <a:rPr sz="2000" dirty="0">
                <a:sym typeface="+mn-ea"/>
              </a:rPr>
            </a:br>
            <a:r>
              <a:rPr sz="2000" dirty="0">
                <a:sym typeface="+mn-ea"/>
              </a:rPr>
              <a:t>(Scoring Metric)</a:t>
            </a:r>
            <a:endParaRPr lang="zh-CN" altLang="en-US" sz="2000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t="34000" b="25333"/>
          <a:stretch>
            <a:fillRect/>
          </a:stretch>
        </p:blipFill>
        <p:spPr>
          <a:xfrm>
            <a:off x="0" y="2240280"/>
            <a:ext cx="12192000" cy="2788920"/>
          </a:xfrm>
          <a:prstGeom prst="rect">
            <a:avLst/>
          </a:prstGeom>
        </p:spPr>
      </p:pic>
      <p:cxnSp>
        <p:nvCxnSpPr>
          <p:cNvPr id="3" name="直线连接符 54"/>
          <p:cNvCxnSpPr/>
          <p:nvPr/>
        </p:nvCxnSpPr>
        <p:spPr>
          <a:xfrm flipH="1">
            <a:off x="-7622" y="5013960"/>
            <a:ext cx="12204000" cy="0"/>
          </a:xfrm>
          <a:prstGeom prst="line">
            <a:avLst/>
          </a:prstGeom>
          <a:noFill/>
          <a:ln w="101600" cap="flat" cmpd="sng" algn="ctr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cxnSp>
        <p:nvCxnSpPr>
          <p:cNvPr id="4" name="直线连接符 55"/>
          <p:cNvCxnSpPr/>
          <p:nvPr/>
        </p:nvCxnSpPr>
        <p:spPr>
          <a:xfrm flipH="1">
            <a:off x="-7622" y="2240280"/>
            <a:ext cx="12204000" cy="0"/>
          </a:xfrm>
          <a:prstGeom prst="line">
            <a:avLst/>
          </a:prstGeom>
          <a:noFill/>
          <a:ln w="101600" cap="flat" cmpd="sng" algn="ctr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5" name="文本框 4"/>
          <p:cNvSpPr txBox="1"/>
          <p:nvPr/>
        </p:nvSpPr>
        <p:spPr>
          <a:xfrm>
            <a:off x="4331495" y="3130988"/>
            <a:ext cx="354076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E9C79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研究计划</a:t>
            </a:r>
            <a:endParaRPr kumimoji="1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E9C79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99135" y="2665901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第五部分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线连接符 5"/>
          <p:cNvCxnSpPr/>
          <p:nvPr/>
        </p:nvCxnSpPr>
        <p:spPr>
          <a:xfrm flipH="1">
            <a:off x="4424681" y="293257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8" name="直线连接符 60"/>
          <p:cNvCxnSpPr/>
          <p:nvPr/>
        </p:nvCxnSpPr>
        <p:spPr>
          <a:xfrm flipH="1">
            <a:off x="7000241" y="293257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55" name="直线连接符 109"/>
          <p:cNvCxnSpPr/>
          <p:nvPr/>
        </p:nvCxnSpPr>
        <p:spPr>
          <a:xfrm flipH="1">
            <a:off x="4424681" y="440323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56" name="直线连接符 110"/>
          <p:cNvCxnSpPr/>
          <p:nvPr/>
        </p:nvCxnSpPr>
        <p:spPr>
          <a:xfrm flipH="1">
            <a:off x="6893561" y="4403232"/>
            <a:ext cx="739140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660" y="4311615"/>
            <a:ext cx="1144061" cy="251567"/>
          </a:xfrm>
          <a:prstGeom prst="rect">
            <a:avLst/>
          </a:prstGeom>
        </p:spPr>
      </p:pic>
      <p:sp>
        <p:nvSpPr>
          <p:cNvPr id="12" name="副标题 2"/>
          <p:cNvSpPr txBox="1"/>
          <p:nvPr/>
        </p:nvSpPr>
        <p:spPr>
          <a:xfrm>
            <a:off x="2452443" y="5901541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  </a:t>
            </a:r>
            <a:r>
              <a:rPr kumimoji="0" lang="zh-CN" altLang="en-US" sz="18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8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方正小标宋简体" panose="02000000000000000000" pitchFamily="65" charset="-122"/>
              <a:ea typeface="方正小标宋简体" panose="02000000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078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研究计划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3"/>
          <a:stretch>
            <a:fillRect/>
          </a:stretch>
        </p:blipFill>
        <p:spPr>
          <a:xfrm>
            <a:off x="9996854" y="153772"/>
            <a:ext cx="1863310" cy="407353"/>
          </a:xfrm>
          <a:prstGeom prst="rect">
            <a:avLst/>
          </a:prstGeom>
        </p:spPr>
      </p:pic>
      <p:sp>
        <p:nvSpPr>
          <p:cNvPr id="8" name="Rectangle 93"/>
          <p:cNvSpPr/>
          <p:nvPr>
            <p:custDataLst>
              <p:tags r:id="rId4"/>
            </p:custDataLst>
          </p:nvPr>
        </p:nvSpPr>
        <p:spPr>
          <a:xfrm>
            <a:off x="655320" y="1859293"/>
            <a:ext cx="10652760" cy="27432"/>
          </a:xfrm>
          <a:prstGeom prst="rect">
            <a:avLst/>
          </a:prstGeom>
          <a:solidFill>
            <a:srgbClr val="567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94"/>
          <p:cNvSpPr/>
          <p:nvPr>
            <p:custDataLst>
              <p:tags r:id="rId5"/>
            </p:custDataLst>
          </p:nvPr>
        </p:nvSpPr>
        <p:spPr>
          <a:xfrm>
            <a:off x="1530400" y="1740421"/>
            <a:ext cx="292608" cy="292608"/>
          </a:xfrm>
          <a:prstGeom prst="ellipse">
            <a:avLst/>
          </a:prstGeom>
          <a:solidFill>
            <a:srgbClr val="567EB4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1</a:t>
            </a:r>
          </a:p>
        </p:txBody>
      </p:sp>
      <p:sp>
        <p:nvSpPr>
          <p:cNvPr id="15" name="Rounded Rectangle 95"/>
          <p:cNvSpPr/>
          <p:nvPr>
            <p:custDataLst>
              <p:tags r:id="rId6"/>
            </p:custDataLst>
          </p:nvPr>
        </p:nvSpPr>
        <p:spPr>
          <a:xfrm>
            <a:off x="472440" y="2169092"/>
            <a:ext cx="2335377" cy="379315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002060"/>
                </a:solidFill>
                <a:latin typeface="微软雅黑" panose="020B0503020204020204" pitchFamily="34" charset="-122"/>
              </a:defRPr>
            </a:pPr>
            <a:r>
              <a:rPr sz="1400" b="1" dirty="0"/>
              <a:t>2025.12.01–2026.02.28</a:t>
            </a:r>
            <a:endParaRPr b="1" dirty="0"/>
          </a:p>
        </p:txBody>
      </p:sp>
      <p:sp>
        <p:nvSpPr>
          <p:cNvPr id="16" name="Rounded Rectangle 96"/>
          <p:cNvSpPr/>
          <p:nvPr>
            <p:custDataLst>
              <p:tags r:id="rId7"/>
            </p:custDataLst>
          </p:nvPr>
        </p:nvSpPr>
        <p:spPr>
          <a:xfrm>
            <a:off x="655320" y="2694940"/>
            <a:ext cx="2042795" cy="249555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/>
              <a:t>文献+基线搭建</a:t>
            </a:r>
            <a:br>
              <a:rPr sz="1800"/>
            </a:br>
            <a:r>
              <a:rPr sz="1800"/>
              <a:t>关键点提取/数据格式</a:t>
            </a:r>
            <a:br>
              <a:rPr sz="1800"/>
            </a:br>
            <a:r>
              <a:rPr sz="1800"/>
              <a:t>综述与路线确定</a:t>
            </a:r>
            <a:endParaRPr sz="1800" b="1" dirty="0"/>
          </a:p>
        </p:txBody>
      </p:sp>
      <p:sp>
        <p:nvSpPr>
          <p:cNvPr id="17" name="Oval 97"/>
          <p:cNvSpPr/>
          <p:nvPr>
            <p:custDataLst>
              <p:tags r:id="rId8"/>
            </p:custDataLst>
          </p:nvPr>
        </p:nvSpPr>
        <p:spPr>
          <a:xfrm>
            <a:off x="3750496" y="1707322"/>
            <a:ext cx="292608" cy="292608"/>
          </a:xfrm>
          <a:prstGeom prst="ellipse">
            <a:avLst/>
          </a:prstGeom>
          <a:solidFill>
            <a:srgbClr val="567EB4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2</a:t>
            </a:r>
          </a:p>
        </p:txBody>
      </p:sp>
      <p:sp>
        <p:nvSpPr>
          <p:cNvPr id="30" name="Rounded Rectangle 98"/>
          <p:cNvSpPr/>
          <p:nvPr>
            <p:custDataLst>
              <p:tags r:id="rId9"/>
            </p:custDataLst>
          </p:nvPr>
        </p:nvSpPr>
        <p:spPr>
          <a:xfrm>
            <a:off x="2807817" y="2169091"/>
            <a:ext cx="2152497" cy="379313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002060"/>
                </a:solidFill>
                <a:latin typeface="微软雅黑" panose="020B0503020204020204" pitchFamily="34" charset="-122"/>
              </a:defRPr>
            </a:pPr>
            <a:r>
              <a:rPr sz="1400" b="1" dirty="0"/>
              <a:t>2026.03.01–03.15</a:t>
            </a:r>
            <a:endParaRPr b="1" dirty="0"/>
          </a:p>
        </p:txBody>
      </p:sp>
      <p:sp>
        <p:nvSpPr>
          <p:cNvPr id="31" name="Rounded Rectangle 99"/>
          <p:cNvSpPr/>
          <p:nvPr>
            <p:custDataLst>
              <p:tags r:id="rId10"/>
            </p:custDataLst>
          </p:nvPr>
        </p:nvSpPr>
        <p:spPr>
          <a:xfrm>
            <a:off x="2807970" y="2694940"/>
            <a:ext cx="2042795" cy="249555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/>
              <a:t>开题定稿</a:t>
            </a:r>
            <a:br>
              <a:rPr sz="1800"/>
            </a:br>
            <a:r>
              <a:rPr sz="1800"/>
              <a:t>需求冻结+接口设计</a:t>
            </a:r>
            <a:br>
              <a:rPr sz="1800"/>
            </a:br>
            <a:r>
              <a:rPr sz="1800"/>
              <a:t>里程碑确认</a:t>
            </a:r>
            <a:endParaRPr sz="1800" b="1" dirty="0"/>
          </a:p>
        </p:txBody>
      </p:sp>
      <p:sp>
        <p:nvSpPr>
          <p:cNvPr id="32" name="Oval 100"/>
          <p:cNvSpPr/>
          <p:nvPr>
            <p:custDataLst>
              <p:tags r:id="rId11"/>
            </p:custDataLst>
          </p:nvPr>
        </p:nvSpPr>
        <p:spPr>
          <a:xfrm>
            <a:off x="5835395" y="1710075"/>
            <a:ext cx="292608" cy="292608"/>
          </a:xfrm>
          <a:prstGeom prst="ellipse">
            <a:avLst/>
          </a:prstGeom>
          <a:solidFill>
            <a:srgbClr val="567EB4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dirty="0"/>
              <a:t>3</a:t>
            </a:r>
            <a:endParaRPr dirty="0"/>
          </a:p>
        </p:txBody>
      </p:sp>
      <p:sp>
        <p:nvSpPr>
          <p:cNvPr id="33" name="Rounded Rectangle 101"/>
          <p:cNvSpPr/>
          <p:nvPr>
            <p:custDataLst>
              <p:tags r:id="rId12"/>
            </p:custDataLst>
          </p:nvPr>
        </p:nvSpPr>
        <p:spPr>
          <a:xfrm>
            <a:off x="4960314" y="2169086"/>
            <a:ext cx="2042769" cy="379315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002060"/>
                </a:solidFill>
                <a:latin typeface="微软雅黑" panose="020B0503020204020204" pitchFamily="34" charset="-122"/>
              </a:defRPr>
            </a:pPr>
            <a:r>
              <a:rPr sz="1400" b="1" dirty="0"/>
              <a:t>2026.03.16–04.26</a:t>
            </a:r>
            <a:endParaRPr b="1" dirty="0"/>
          </a:p>
        </p:txBody>
      </p:sp>
      <p:sp>
        <p:nvSpPr>
          <p:cNvPr id="34" name="Rounded Rectangle 102"/>
          <p:cNvSpPr/>
          <p:nvPr>
            <p:custDataLst>
              <p:tags r:id="rId13"/>
            </p:custDataLst>
          </p:nvPr>
        </p:nvSpPr>
        <p:spPr>
          <a:xfrm>
            <a:off x="4960620" y="2694940"/>
            <a:ext cx="2042795" cy="249555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/>
              <a:t>3月：DTW Demo</a:t>
            </a:r>
            <a:br>
              <a:rPr sz="1800"/>
            </a:br>
            <a:r>
              <a:rPr sz="1800"/>
              <a:t>4月上旬：前后端联调</a:t>
            </a:r>
            <a:br>
              <a:rPr sz="1800"/>
            </a:br>
            <a:r>
              <a:rPr sz="1800"/>
              <a:t>叠加回放上线</a:t>
            </a:r>
            <a:endParaRPr sz="1800" b="1" dirty="0"/>
          </a:p>
        </p:txBody>
      </p:sp>
      <p:sp>
        <p:nvSpPr>
          <p:cNvPr id="36" name="Oval 103"/>
          <p:cNvSpPr/>
          <p:nvPr>
            <p:custDataLst>
              <p:tags r:id="rId14"/>
            </p:custDataLst>
          </p:nvPr>
        </p:nvSpPr>
        <p:spPr>
          <a:xfrm>
            <a:off x="7987892" y="1740421"/>
            <a:ext cx="292608" cy="292608"/>
          </a:xfrm>
          <a:prstGeom prst="ellipse">
            <a:avLst/>
          </a:prstGeom>
          <a:solidFill>
            <a:srgbClr val="567EB4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dirty="0"/>
              <a:t>4</a:t>
            </a:r>
            <a:endParaRPr dirty="0"/>
          </a:p>
        </p:txBody>
      </p:sp>
      <p:sp>
        <p:nvSpPr>
          <p:cNvPr id="41" name="Rounded Rectangle 104"/>
          <p:cNvSpPr/>
          <p:nvPr>
            <p:custDataLst>
              <p:tags r:id="rId15"/>
            </p:custDataLst>
          </p:nvPr>
        </p:nvSpPr>
        <p:spPr>
          <a:xfrm>
            <a:off x="7003083" y="2169084"/>
            <a:ext cx="2262227" cy="379316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002060"/>
                </a:solidFill>
                <a:latin typeface="微软雅黑" panose="020B0503020204020204" pitchFamily="34" charset="-122"/>
              </a:defRPr>
            </a:pPr>
            <a:r>
              <a:rPr sz="1400" b="1" dirty="0"/>
              <a:t>2026.04.27–05.31</a:t>
            </a:r>
            <a:endParaRPr sz="1400" b="1" dirty="0"/>
          </a:p>
        </p:txBody>
      </p:sp>
      <p:sp>
        <p:nvSpPr>
          <p:cNvPr id="42" name="Rounded Rectangle 105"/>
          <p:cNvSpPr/>
          <p:nvPr>
            <p:custDataLst>
              <p:tags r:id="rId16"/>
            </p:custDataLst>
          </p:nvPr>
        </p:nvSpPr>
        <p:spPr>
          <a:xfrm>
            <a:off x="7112635" y="2694940"/>
            <a:ext cx="2042795" cy="249555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 dirty="0"/>
              <a:t>4月下旬：多样本测试</a:t>
            </a:r>
            <a:br>
              <a:rPr sz="1800" dirty="0"/>
            </a:br>
            <a:r>
              <a:rPr sz="1800" dirty="0" err="1"/>
              <a:t>遮挡稳定性优化</a:t>
            </a:r>
            <a:br>
              <a:rPr sz="1800" dirty="0"/>
            </a:br>
            <a:r>
              <a:rPr sz="1800" dirty="0"/>
              <a:t>5月：论文初稿</a:t>
            </a:r>
            <a:endParaRPr sz="1800" b="1" dirty="0"/>
          </a:p>
        </p:txBody>
      </p:sp>
      <p:sp>
        <p:nvSpPr>
          <p:cNvPr id="43" name="Oval 106"/>
          <p:cNvSpPr/>
          <p:nvPr>
            <p:custDataLst>
              <p:tags r:id="rId17"/>
            </p:custDataLst>
          </p:nvPr>
        </p:nvSpPr>
        <p:spPr>
          <a:xfrm>
            <a:off x="10140389" y="1740421"/>
            <a:ext cx="292608" cy="292608"/>
          </a:xfrm>
          <a:prstGeom prst="ellipse">
            <a:avLst/>
          </a:prstGeom>
          <a:solidFill>
            <a:srgbClr val="567EB4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dirty="0"/>
              <a:t>5</a:t>
            </a:r>
            <a:endParaRPr dirty="0"/>
          </a:p>
        </p:txBody>
      </p:sp>
      <p:sp>
        <p:nvSpPr>
          <p:cNvPr id="44" name="Rounded Rectangle 107"/>
          <p:cNvSpPr/>
          <p:nvPr>
            <p:custDataLst>
              <p:tags r:id="rId18"/>
            </p:custDataLst>
          </p:nvPr>
        </p:nvSpPr>
        <p:spPr>
          <a:xfrm>
            <a:off x="9265311" y="2182648"/>
            <a:ext cx="2222296" cy="364065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002060"/>
                </a:solidFill>
                <a:latin typeface="微软雅黑" panose="020B0503020204020204" pitchFamily="34" charset="-122"/>
              </a:defRPr>
            </a:pPr>
            <a:r>
              <a:rPr sz="1400" b="1" dirty="0"/>
              <a:t>2026.06.01–06.07</a:t>
            </a:r>
            <a:endParaRPr sz="1400" b="1" dirty="0"/>
          </a:p>
        </p:txBody>
      </p:sp>
      <p:sp>
        <p:nvSpPr>
          <p:cNvPr id="45" name="Rounded Rectangle 108"/>
          <p:cNvSpPr/>
          <p:nvPr>
            <p:custDataLst>
              <p:tags r:id="rId19"/>
            </p:custDataLst>
          </p:nvPr>
        </p:nvSpPr>
        <p:spPr>
          <a:xfrm>
            <a:off x="9265285" y="2694940"/>
            <a:ext cx="2042795" cy="2495550"/>
          </a:xfrm>
          <a:prstGeom prst="roundRect">
            <a:avLst/>
          </a:prstGeom>
          <a:solidFill>
            <a:srgbClr val="F5F8FC"/>
          </a:solidFill>
          <a:ln>
            <a:solidFill>
              <a:srgbClr val="567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000000"/>
                </a:solidFill>
                <a:latin typeface="微软雅黑" panose="020B0503020204020204" pitchFamily="34" charset="-122"/>
              </a:defRPr>
            </a:pPr>
            <a:r>
              <a:rPr sz="1800"/>
              <a:t>论文修改定稿</a:t>
            </a:r>
            <a:br>
              <a:rPr sz="1800"/>
            </a:br>
            <a:r>
              <a:rPr sz="1800"/>
              <a:t>答辩材料准备</a:t>
            </a:r>
            <a:br>
              <a:rPr sz="1800"/>
            </a:br>
            <a:r>
              <a:rPr sz="1800"/>
              <a:t>系统封版与提交</a:t>
            </a:r>
            <a:endParaRPr sz="1800" b="1" dirty="0"/>
          </a:p>
        </p:txBody>
      </p:sp>
      <p:sp>
        <p:nvSpPr>
          <p:cNvPr id="91" name="Rounded Rectangle 90"/>
          <p:cNvSpPr/>
          <p:nvPr/>
        </p:nvSpPr>
        <p:spPr>
          <a:xfrm>
            <a:off x="2807970" y="1097280"/>
            <a:ext cx="2152650" cy="48006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sz="1600"/>
              <a:t>DTW对齐 Demo</a:t>
            </a:r>
            <a:endParaRPr sz="1600"/>
          </a:p>
        </p:txBody>
      </p:sp>
      <p:sp>
        <p:nvSpPr>
          <p:cNvPr id="92" name="Rounded Rectangle 91"/>
          <p:cNvSpPr/>
          <p:nvPr/>
        </p:nvSpPr>
        <p:spPr>
          <a:xfrm>
            <a:off x="5090795" y="1097280"/>
            <a:ext cx="2126615" cy="48006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sz="1600" dirty="0" err="1"/>
              <a:t>联调</a:t>
            </a:r>
            <a:r>
              <a:rPr sz="1600" dirty="0"/>
              <a:t> + </a:t>
            </a:r>
            <a:r>
              <a:rPr sz="1600" dirty="0" err="1"/>
              <a:t>Overlay回放</a:t>
            </a:r>
            <a:endParaRPr sz="1600" dirty="0" err="1"/>
          </a:p>
        </p:txBody>
      </p:sp>
      <p:sp>
        <p:nvSpPr>
          <p:cNvPr id="93" name="Rounded Rectangle 92"/>
          <p:cNvSpPr/>
          <p:nvPr/>
        </p:nvSpPr>
        <p:spPr>
          <a:xfrm>
            <a:off x="7217410" y="1097280"/>
            <a:ext cx="2047875" cy="466725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sz="1600"/>
              <a:t>遮挡稳定性优化</a:t>
            </a:r>
            <a:endParaRPr sz="1600"/>
          </a:p>
        </p:txBody>
      </p:sp>
      <p:sp>
        <p:nvSpPr>
          <p:cNvPr id="94" name="Rounded Rectangle 93"/>
          <p:cNvSpPr/>
          <p:nvPr/>
        </p:nvSpPr>
        <p:spPr>
          <a:xfrm>
            <a:off x="9418320" y="1090930"/>
            <a:ext cx="1737360" cy="47244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 altLang="en-US" sz="1600" dirty="0"/>
              <a:t>回归测试</a:t>
            </a:r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0" b="34927"/>
          <a:stretch>
            <a:fillRect/>
          </a:stretch>
        </p:blipFill>
        <p:spPr>
          <a:xfrm>
            <a:off x="-2" y="0"/>
            <a:ext cx="12192002" cy="5057758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-5500" y="-27758"/>
            <a:ext cx="12192000" cy="5013703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Regular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877" y="2573672"/>
            <a:ext cx="3455246" cy="3455246"/>
          </a:xfrm>
          <a:prstGeom prst="rect">
            <a:avLst/>
          </a:prstGeom>
        </p:spPr>
      </p:pic>
      <p:cxnSp>
        <p:nvCxnSpPr>
          <p:cNvPr id="48" name="直线连接符 77"/>
          <p:cNvCxnSpPr/>
          <p:nvPr/>
        </p:nvCxnSpPr>
        <p:spPr>
          <a:xfrm flipH="1">
            <a:off x="-1" y="5041255"/>
            <a:ext cx="12192001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圆角矩形 190"/>
          <p:cNvSpPr/>
          <p:nvPr/>
        </p:nvSpPr>
        <p:spPr>
          <a:xfrm>
            <a:off x="2514355" y="5753234"/>
            <a:ext cx="1769103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 </a:t>
            </a:r>
            <a:r>
              <a:rPr kumimoji="1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李海威</a:t>
            </a:r>
            <a:endParaRPr kumimoji="1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圆角矩形 192"/>
          <p:cNvSpPr/>
          <p:nvPr/>
        </p:nvSpPr>
        <p:spPr>
          <a:xfrm>
            <a:off x="4935945" y="5753234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指导老师 </a:t>
            </a:r>
            <a:r>
              <a:rPr kumimoji="1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胡映天</a:t>
            </a:r>
            <a:endParaRPr kumimoji="1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圆角矩形 193"/>
          <p:cNvSpPr/>
          <p:nvPr/>
        </p:nvSpPr>
        <p:spPr>
          <a:xfrm>
            <a:off x="7929621" y="5753234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单位</a:t>
            </a:r>
            <a:r>
              <a:rPr kumimoji="1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信息工程学院</a:t>
            </a: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947300" y="4710756"/>
            <a:ext cx="2297403" cy="638773"/>
          </a:xfrm>
          <a:prstGeom prst="rect">
            <a:avLst/>
          </a:prstGeom>
          <a:solidFill>
            <a:srgbClr val="F6D9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9" name="直角三角形 98"/>
          <p:cNvSpPr/>
          <p:nvPr/>
        </p:nvSpPr>
        <p:spPr>
          <a:xfrm>
            <a:off x="7241927" y="4700241"/>
            <a:ext cx="91883" cy="291083"/>
          </a:xfrm>
          <a:prstGeom prst="rtTriangle">
            <a:avLst/>
          </a:prstGeom>
          <a:solidFill>
            <a:srgbClr val="D6A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直角三角形 99"/>
          <p:cNvSpPr/>
          <p:nvPr/>
        </p:nvSpPr>
        <p:spPr>
          <a:xfrm flipH="1">
            <a:off x="4852688" y="4708917"/>
            <a:ext cx="91883" cy="291083"/>
          </a:xfrm>
          <a:prstGeom prst="rtTriangle">
            <a:avLst/>
          </a:prstGeom>
          <a:solidFill>
            <a:srgbClr val="D6A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69175" y="863992"/>
            <a:ext cx="6083717" cy="2036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谢谢大家</a:t>
            </a:r>
            <a:endParaRPr kumimoji="1" lang="en-US" altLang="zh-CN" sz="1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393622" y="476072"/>
            <a:ext cx="50897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88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>
                        <a:alpha val="4300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THANKS</a:t>
            </a:r>
            <a:endParaRPr kumimoji="1" lang="zh-CN" altLang="en-US" sz="88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>
                      <a:alpha val="43000"/>
                    </a:prstClr>
                  </a:gs>
                  <a:gs pos="100000">
                    <a:prstClr val="white">
                      <a:alpha val="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2"/>
          <a:stretch>
            <a:fillRect/>
          </a:stretch>
        </p:blipFill>
        <p:spPr>
          <a:xfrm>
            <a:off x="5300628" y="4780745"/>
            <a:ext cx="1585242" cy="468532"/>
          </a:xfrm>
          <a:prstGeom prst="rect">
            <a:avLst/>
          </a:prstGeom>
        </p:spPr>
      </p:pic>
      <p:sp>
        <p:nvSpPr>
          <p:cNvPr id="18" name="副标题 2"/>
          <p:cNvSpPr txBox="1"/>
          <p:nvPr/>
        </p:nvSpPr>
        <p:spPr>
          <a:xfrm>
            <a:off x="2452443" y="6400304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  </a:t>
            </a:r>
            <a:r>
              <a: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</a:t>
            </a:r>
            <a:endParaRPr kumimoji="0" lang="zh-CN" altLang="en-US" sz="1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2000000000000000000" pitchFamily="65" charset="-122"/>
              <a:ea typeface="方正小标宋简体" panose="02000000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53.99858267716536,&quot;left&quot;:64.45,&quot;top&quot;:99.60141732283464,&quot;width&quot;:849.4592125984251}"/>
</p:tagLst>
</file>

<file path=ppt/tags/tag2.xml><?xml version="1.0" encoding="utf-8"?>
<p:tagLst xmlns:p="http://schemas.openxmlformats.org/presentationml/2006/main">
  <p:tag name="KSO_WM_DIAGRAM_VIRTUALLY_FRAME" val="{&quot;height&quot;:353.99858267716536,&quot;left&quot;:64.45,&quot;top&quot;:99.60141732283464,&quot;width&quot;:849.4592125984251}"/>
</p:tagLst>
</file>

<file path=ppt/tags/tag3.xml><?xml version="1.0" encoding="utf-8"?>
<p:tagLst xmlns:p="http://schemas.openxmlformats.org/presentationml/2006/main">
  <p:tag name="KSO_WM_DIAGRAM_VIRTUALLY_FRAME" val="{&quot;height&quot;:353.99858267716536,&quot;left&quot;:64.45,&quot;top&quot;:99.60141732283464,&quot;width&quot;:849.4592125984251}"/>
</p:tagLst>
</file>

<file path=ppt/tags/tag4.xml><?xml version="1.0" encoding="utf-8"?>
<p:tagLst xmlns:p="http://schemas.openxmlformats.org/presentationml/2006/main">
  <p:tag name="KSO_WM_DIAGRAM_VIRTUALLY_FRAME" val="{&quot;height&quot;:353.99858267716536,&quot;left&quot;:64.45,&quot;top&quot;:99.60141732283464,&quot;width&quot;:849.4592125984251}"/>
</p:tagLst>
</file>

<file path=ppt/tags/tag5.xml><?xml version="1.0" encoding="utf-8"?>
<p:tagLst xmlns:p="http://schemas.openxmlformats.org/presentationml/2006/main">
  <p:tag name="KSO_WM_DIAGRAM_VIRTUALLY_FRAME" val="{&quot;height&quot;:353.99858267716536,&quot;left&quot;:64.45,&quot;top&quot;:99.60141732283464,&quot;width&quot;:849.4592125984251}"/>
</p:tagLst>
</file>

<file path=ppt/tags/tag6.xml><?xml version="1.0" encoding="utf-8"?>
<p:tagLst xmlns:p="http://schemas.openxmlformats.org/presentationml/2006/main">
  <p:tag name="KSO_WM_DIAGRAM_VIRTUALLY_FRAME" val="{&quot;height&quot;:353.99858267716536,&quot;left&quot;:64.45,&quot;top&quot;:99.60141732283464,&quot;width&quot;:849.4592125984251}"/>
</p:tagLst>
</file>

<file path=ppt/tags/tag7.xml><?xml version="1.0" encoding="utf-8"?>
<p:tagLst xmlns:p="http://schemas.openxmlformats.org/presentationml/2006/main">
  <p:tag name="KSO_WM_DIAGRAM_VIRTUALLY_FRAME" val="{&quot;height&quot;:274.2651968503937,&quot;left&quot;:37.2,&quot;top&quot;:134.4348031496063,&quot;width&quot;:867.3359842519685}"/>
</p:tagLst>
</file>

<file path=ppt/tags/tag8.xml><?xml version="1.0" encoding="utf-8"?>
<p:tagLst xmlns:p="http://schemas.openxmlformats.org/presentationml/2006/main">
  <p:tag name="KSO_WM_DIAGRAM_VIRTUALLY_FRAME" val="{&quot;height&quot;:274.2651968503937,&quot;left&quot;:37.2,&quot;top&quot;:134.4348031496063,&quot;width&quot;:867.3359842519685}"/>
</p:tagLst>
</file>

<file path=ppt/tags/tag9.xml><?xml version="1.0" encoding="utf-8"?>
<p:tagLst xmlns:p="http://schemas.openxmlformats.org/presentationml/2006/main">
  <p:tag name="KSO_WM_DIAGRAM_VIRTUALLY_FRAME" val="{&quot;height&quot;:274.2651968503937,&quot;left&quot;:37.2,&quot;top&quot;:134.4348031496063,&quot;width&quot;:867.3359842519685}"/>
</p:tagLst>
</file>

<file path=ppt/tags/tag10.xml><?xml version="1.0" encoding="utf-8"?>
<p:tagLst xmlns:p="http://schemas.openxmlformats.org/presentationml/2006/main">
  <p:tag name="KSO_WM_DIAGRAM_VIRTUALLY_FRAME" val="{&quot;height&quot;:274.2651968503937,&quot;left&quot;:37.2,&quot;top&quot;:134.4348031496063,&quot;width&quot;:867.3359842519685}"/>
</p:tagLst>
</file>

<file path=ppt/tags/tag11.xml><?xml version="1.0" encoding="utf-8"?>
<p:tagLst xmlns:p="http://schemas.openxmlformats.org/presentationml/2006/main">
  <p:tag name="KSO_WM_DIAGRAM_VIRTUALLY_FRAME" val="{&quot;height&quot;:274.2651968503937,&quot;left&quot;:37.2,&quot;top&quot;:134.4348031496063,&quot;width&quot;:867.3359842519685}"/>
</p:tagLst>
</file>

<file path=ppt/tags/tag12.xml><?xml version="1.0" encoding="utf-8"?>
<p:tagLst xmlns:p="http://schemas.openxmlformats.org/presentationml/2006/main">
  <p:tag name="KSO_WM_DIAGRAM_VIRTUALLY_FRAME" val="{&quot;height&quot;:274.2651968503937,&quot;left&quot;:37.2,&quot;top&quot;:134.4348031496063,&quot;width&quot;:867.3359842519685}"/>
</p:tagLst>
</file>

<file path=ppt/tags/tag13.xml><?xml version="1.0" encoding="utf-8"?>
<p:tagLst xmlns:p="http://schemas.openxmlformats.org/presentationml/2006/main">
  <p:tag name="KSO_WM_DIAGRAM_VIRTUALLY_FRAME" val="{&quot;height&quot;:274.2651968503937,&quot;left&quot;:37.2,&quot;top&quot;:134.4348031496063,&quot;width&quot;:867.3359842519685}"/>
</p:tagLst>
</file>

<file path=ppt/tags/tag14.xml><?xml version="1.0" encoding="utf-8"?>
<p:tagLst xmlns:p="http://schemas.openxmlformats.org/presentationml/2006/main">
  <p:tag name="KSO_WM_DIAGRAM_VIRTUALLY_FRAME" val="{&quot;height&quot;:274.2651968503937,&quot;left&quot;:37.2,&quot;top&quot;:134.4348031496063,&quot;width&quot;:867.3359842519685}"/>
</p:tagLst>
</file>

<file path=ppt/tags/tag15.xml><?xml version="1.0" encoding="utf-8"?>
<p:tagLst xmlns:p="http://schemas.openxmlformats.org/presentationml/2006/main">
  <p:tag name="KSO_WM_DIAGRAM_VIRTUALLY_FRAME" val="{&quot;height&quot;:274.2651968503937,&quot;left&quot;:37.2,&quot;top&quot;:134.4348031496063,&quot;width&quot;:867.3359842519685}"/>
</p:tagLst>
</file>

<file path=ppt/tags/tag16.xml><?xml version="1.0" encoding="utf-8"?>
<p:tagLst xmlns:p="http://schemas.openxmlformats.org/presentationml/2006/main">
  <p:tag name="KSO_WM_DIAGRAM_VIRTUALLY_FRAME" val="{&quot;height&quot;:274.2651968503937,&quot;left&quot;:37.2,&quot;top&quot;:134.4348031496063,&quot;width&quot;:867.3359842519685}"/>
</p:tagLst>
</file>

<file path=ppt/tags/tag17.xml><?xml version="1.0" encoding="utf-8"?>
<p:tagLst xmlns:p="http://schemas.openxmlformats.org/presentationml/2006/main">
  <p:tag name="KSO_WM_DIAGRAM_VIRTUALLY_FRAME" val="{&quot;height&quot;:274.2651968503937,&quot;left&quot;:37.2,&quot;top&quot;:134.4348031496063,&quot;width&quot;:867.3359842519685}"/>
</p:tagLst>
</file>

<file path=ppt/tags/tag18.xml><?xml version="1.0" encoding="utf-8"?>
<p:tagLst xmlns:p="http://schemas.openxmlformats.org/presentationml/2006/main">
  <p:tag name="KSO_WM_DIAGRAM_VIRTUALLY_FRAME" val="{&quot;height&quot;:274.2651968503937,&quot;left&quot;:37.2,&quot;top&quot;:134.4348031496063,&quot;width&quot;:867.3359842519685}"/>
</p:tagLst>
</file>

<file path=ppt/tags/tag19.xml><?xml version="1.0" encoding="utf-8"?>
<p:tagLst xmlns:p="http://schemas.openxmlformats.org/presentationml/2006/main">
  <p:tag name="KSO_WM_DIAGRAM_VIRTUALLY_FRAME" val="{&quot;height&quot;:274.2651968503937,&quot;left&quot;:37.2,&quot;top&quot;:134.4348031496063,&quot;width&quot;:867.3359842519685}"/>
</p:tagLst>
</file>

<file path=ppt/tags/tag20.xml><?xml version="1.0" encoding="utf-8"?>
<p:tagLst xmlns:p="http://schemas.openxmlformats.org/presentationml/2006/main">
  <p:tag name="KSO_WM_DIAGRAM_VIRTUALLY_FRAME" val="{&quot;height&quot;:274.2651968503937,&quot;left&quot;:37.2,&quot;top&quot;:134.4348031496063,&quot;width&quot;:867.3359842519685}"/>
</p:tagLst>
</file>

<file path=ppt/tags/tag21.xml><?xml version="1.0" encoding="utf-8"?>
<p:tagLst xmlns:p="http://schemas.openxmlformats.org/presentationml/2006/main">
  <p:tag name="KSO_WM_DIAGRAM_VIRTUALLY_FRAME" val="{&quot;height&quot;:274.2651968503937,&quot;left&quot;:37.2,&quot;top&quot;:134.4348031496063,&quot;width&quot;:867.3359842519685}"/>
</p:tagLst>
</file>

<file path=ppt/tags/tag22.xml><?xml version="1.0" encoding="utf-8"?>
<p:tagLst xmlns:p="http://schemas.openxmlformats.org/presentationml/2006/main">
  <p:tag name="KSO_WM_DIAGRAM_VIRTUALLY_FRAME" val="{&quot;height&quot;:274.2651968503937,&quot;left&quot;:37.2,&quot;top&quot;:134.4348031496063,&quot;width&quot;:867.33598425196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2174</Words>
  <Application>WPS 演示</Application>
  <PresentationFormat>宽屏</PresentationFormat>
  <Paragraphs>262</Paragraphs>
  <Slides>13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微软雅黑 Light</vt:lpstr>
      <vt:lpstr>Microsoft YaHei Regular</vt:lpstr>
      <vt:lpstr>方正小标宋简体</vt:lpstr>
      <vt:lpstr>Times New Roman</vt:lpstr>
      <vt:lpstr>黑体</vt:lpstr>
      <vt:lpstr>Segoe Print</vt:lpstr>
      <vt:lpstr>Arial Unicode MS</vt:lpstr>
      <vt:lpstr>等线</vt:lpstr>
      <vt:lpstr>等线 Light</vt:lpstr>
      <vt:lpstr>Calibri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苗苗</dc:creator>
  <cp:lastModifiedBy>苑馨瑶</cp:lastModifiedBy>
  <cp:revision>21</cp:revision>
  <dcterms:created xsi:type="dcterms:W3CDTF">2024-02-28T11:20:00Z</dcterms:created>
  <dcterms:modified xsi:type="dcterms:W3CDTF">2026-03-05T05:52:47Z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D958DE2144FA44A1A1AD15F5BB37AF3A_13</vt:lpwstr>
  </property>
  <property fmtid="{D5CDD505-2E9C-101B-9397-08002B2CF9AE}" pid="3" name="KSOProductBuildVer">
    <vt:lpwstr>2052-12.1.0.25225</vt:lpwstr>
  </property>
</Properties>
</file>