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开场控制在30秒：说明题目、对象、目标。强调现在汇报以当前GitHub项目架构为准，开题材料只作为背景和目标依据。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这页让老师知道你的结构，不要在目录页停留太久。每个部分一句话带过。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强调你不是做大而泛的识别，而是面向具体教学反馈的系统。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这页把任务书要求和当前实现对齐。讲清楚中期不是终版，但是闭环已经形成。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不用逐个讲图标。强调架构分层：Vue/FastAPI/Task Store/Pipeline/Storage/Reports。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老师可能会问：为什么要异步任务？回答：视频分析耗时长，不能用普通同步请求阻塞。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讲算法时别陷入代码细节。要让老师听懂：先提骨架，再清洗，再对齐，再评分。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这页是答辩核心。讲清楚为什么不用简单逐帧相似度：因为学习者速度不可能和标准完全一致。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避免说“这个页面很好看”。说“页面服务于训练闭环和任务复盘”。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不要夸大已经完全完成。讲“闭环已形成，正在进入验证和优化”。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这页专门防止老师拿开题材料和当前系统不一致来问你。你要把差异解释成工程迭代。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这里要诚实：中期之后主要补测试。老师更相信有测试计划的人。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这页要有底气但不要吹过头。承认限制，给出应对。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后续计划要说得具体。重点别说“继续完善”，要说完善什么、怎么证明。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最后一句很关键，体现你知道下一阶段真正的难点。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结束后不要急着收电脑，等老师提问。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92240"/>
            <a:ext cx="1138428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abstract_design_scene_overall_a_m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14300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</a:rPr>
              <a:t>基于视频分析的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</a:rPr>
              <a:t>舞蹈学习辅助平台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</a:rPr>
              <a:t>设计与开发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8580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5D99"/>
                </a:solidFill>
              </a:rPr>
              <a:t>本科毕业设计中期答辩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85800" y="3346704"/>
            <a:ext cx="2971800" cy="0"/>
          </a:xfrm>
          <a:prstGeom prst="line">
            <a:avLst/>
          </a:prstGeom>
          <a:noFill/>
          <a:ln w="25400">
            <a:solidFill>
              <a:srgbClr val="26C6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73075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2238"/>
                </a:solidFill>
              </a:rPr>
              <a:t>学生：李海威   学号：202205110707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52238"/>
                </a:solidFill>
              </a:rPr>
              <a:t>专业：通信工程   指导老师：胡映天 副教授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52238"/>
                </a:solidFill>
              </a:rPr>
              <a:t>时间：2026年4月28日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5806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从“视频上传”到“动作对齐、评分与可解释反馈”的完整工程闭环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汇报思路：问题—方法—系统—进展—计划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答辩不是讲代码流水账，而是证明：问题有价值、方案能落地、当前进度可信。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5D99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45920" y="1618488"/>
            <a:ext cx="594360" cy="0"/>
          </a:xfrm>
          <a:prstGeom prst="line">
            <a:avLst/>
          </a:prstGeom>
          <a:noFill/>
          <a:ln w="22860">
            <a:solidFill>
              <a:srgbClr val="26C6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399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8"/>
                </a:solidFill>
              </a:rPr>
              <a:t>研究背景与目标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40680" y="14356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舞蹈自学缺少客观反馈，平台面向单人离线视频分析。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5D99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645920" y="2761488"/>
            <a:ext cx="594360" cy="0"/>
          </a:xfrm>
          <a:prstGeom prst="line">
            <a:avLst/>
          </a:prstGeom>
          <a:noFill/>
          <a:ln w="22860">
            <a:solidFill>
              <a:srgbClr val="26C6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2542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8"/>
                </a:solidFill>
              </a:rPr>
              <a:t>当前系统架构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25786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前端 Vue、后端 FastAPI、任务执行、分析 pipeline、结果存储。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5D99"/>
                </a:solidFill>
              </a:rPr>
              <a:t>03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645920" y="3904488"/>
            <a:ext cx="594360" cy="0"/>
          </a:xfrm>
          <a:prstGeom prst="line">
            <a:avLst/>
          </a:prstGeom>
          <a:noFill/>
          <a:ln w="22860">
            <a:solidFill>
              <a:srgbClr val="26C6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3685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8"/>
                </a:solidFill>
              </a:rPr>
              <a:t>核心算法路线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40680" y="37216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姿态估计、质量处理、DTW 对齐、准确性与节奏误差分析。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5D99"/>
                </a:solidFill>
              </a:rPr>
              <a:t>04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645920" y="5047488"/>
            <a:ext cx="594360" cy="0"/>
          </a:xfrm>
          <a:prstGeom prst="line">
            <a:avLst/>
          </a:prstGeom>
          <a:noFill/>
          <a:ln w="22860">
            <a:solidFill>
              <a:srgbClr val="26C6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4828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8"/>
                </a:solidFill>
              </a:rPr>
              <a:t>中期成果与风险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40680" y="48646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已形成可运行闭环；下一阶段进入测试、优化与论文收敛。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课题背景：舞蹈学习的“看得见”与“改得准”之间有断层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传统现场教学和视频模仿都难以在课后训练中持续提供细粒度反馈。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063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73152" cy="164592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819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学习痛点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1947672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学习者能看到标准动作，但很难判断自己“哪里错、错多少、何时错”。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3063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417320"/>
            <a:ext cx="73152" cy="1645920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5819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技术机会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27448" y="1947672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人体姿态估计可以把视频转成关键点序列，使动作具备可计算表示。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66760" y="1417320"/>
            <a:ext cx="3063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417320"/>
            <a:ext cx="73152" cy="1645920"/>
          </a:xfrm>
          <a:prstGeom prst="rect">
            <a:avLst/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67928" y="15819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系统价值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67928" y="1947672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通过对齐、评分、定位和可视化，形成课后练习的客观反馈工具。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828800" y="3977640"/>
            <a:ext cx="8595360" cy="0"/>
          </a:xfrm>
          <a:prstGeom prst="line">
            <a:avLst/>
          </a:prstGeom>
          <a:noFill/>
          <a:ln w="19050">
            <a:solidFill>
              <a:srgbClr val="D9E2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749040"/>
            <a:ext cx="457200" cy="457200"/>
          </a:xfrm>
          <a:prstGeom prst="ellipse">
            <a:avLst/>
          </a:prstGeom>
          <a:solidFill>
            <a:srgbClr val="1C5D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343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上传练习视频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657600" y="3749040"/>
            <a:ext cx="457200" cy="457200"/>
          </a:xfrm>
          <a:prstGeom prst="ellipse">
            <a:avLst/>
          </a:prstGeom>
          <a:solidFill>
            <a:srgbClr val="1C5D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4343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提取人体关键点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1C5D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4343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动作对齐与误差分析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144000" y="3749040"/>
            <a:ext cx="457200" cy="457200"/>
          </a:xfrm>
          <a:prstGeom prst="ellipse">
            <a:avLst/>
          </a:prstGeom>
          <a:solidFill>
            <a:srgbClr val="26C6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0" y="4343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输出反馈报告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研究切入点：不做“识别是什么舞蹈”，而是做“这一段动作做得如何、哪里需要改”。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研究目标：构建“上传—分析—反馈”的闭环平台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目标来自任务书，但当前实现已迭代为更完整的工程架构。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5D99"/>
                </a:solidFill>
              </a:rPr>
              <a:t>视频输入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1975104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标准/用户视频上传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本地运行时目录管理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34640" y="14630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6276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5D99"/>
                </a:solidFill>
              </a:rPr>
              <a:t>姿态分析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44368" y="1975104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MediaPipe Pose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关键点与置信度序列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4630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16276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C6DA"/>
                </a:solidFill>
              </a:rPr>
              <a:t>动作对齐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138928" y="1975104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DTW + 特征融合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处理快慢差异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23760" y="14630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3488" y="16276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9D7A"/>
                </a:solidFill>
              </a:rPr>
              <a:t>评分反馈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33488" y="1975104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准确性、节奏、关节误差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报告与可视化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18320" y="14630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28048" y="16276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A23C"/>
                </a:solidFill>
              </a:rPr>
              <a:t>系统验证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528048" y="1975104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任务状态、失败统计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测试与优化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06040" y="2011680"/>
            <a:ext cx="228600" cy="0"/>
          </a:xfrm>
          <a:prstGeom prst="line">
            <a:avLst/>
          </a:prstGeom>
          <a:noFill/>
          <a:ln w="20320">
            <a:solidFill>
              <a:srgbClr val="D9E2F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00600" y="2011680"/>
            <a:ext cx="228600" cy="0"/>
          </a:xfrm>
          <a:prstGeom prst="line">
            <a:avLst/>
          </a:prstGeom>
          <a:noFill/>
          <a:ln w="20320">
            <a:solidFill>
              <a:srgbClr val="D9E2F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95160" y="2011680"/>
            <a:ext cx="228600" cy="0"/>
          </a:xfrm>
          <a:prstGeom prst="line">
            <a:avLst/>
          </a:prstGeom>
          <a:noFill/>
          <a:ln w="20320">
            <a:solidFill>
              <a:srgbClr val="D9E2F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89720" y="2011680"/>
            <a:ext cx="228600" cy="0"/>
          </a:xfrm>
          <a:prstGeom prst="line">
            <a:avLst/>
          </a:prstGeom>
          <a:noFill/>
          <a:ln w="20320">
            <a:solidFill>
              <a:srgbClr val="D9E2F1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2296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238"/>
                </a:solidFill>
              </a:rPr>
              <a:t>中期检查重点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68680" y="4160520"/>
            <a:ext cx="105156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152238"/>
                </a:solidFill>
              </a:rPr>
              <a:t>核心算法是否完成：姿态提取、后处理、DTW 对齐、评分与报告</a:t>
            </a:r>
            <a:endParaRPr lang="en-US" sz="1700" dirty="0"/>
          </a:p>
          <a:p>
            <a:r>
              <a:rPr lang="en-US" sz="1700" dirty="0">
                <a:solidFill>
                  <a:srgbClr val="152238"/>
                </a:solidFill>
              </a:rPr>
              <a:t>系统主功能是否闭环：上传、运行、任务状态、结果查看、系统维护</a:t>
            </a:r>
            <a:endParaRPr lang="en-US" sz="1700" dirty="0"/>
          </a:p>
          <a:p>
            <a:r>
              <a:rPr lang="en-US" sz="1700" dirty="0">
                <a:solidFill>
                  <a:srgbClr val="152238"/>
                </a:solidFill>
              </a:rPr>
              <a:t>下一阶段是否清晰：测试数据、性能优化、论文实验与答辩演示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当前总体架构：前后端分离 + 异步任务 + 可解释分析结果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以 GitHub 当前 dance-assist 架构为准，而不是早期开题设想。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pic>
        <p:nvPicPr>
          <p:cNvPr id="6" name="Image 0" descr="/mnt/data/wide_clean_vector_infographic_diagram_on_a_white_b_batch_3.png">    </p:cNvPr>
          <p:cNvPicPr>
            <a:picLocks noChangeAspect="1"/>
          </p:cNvPicPr>
          <p:nvPr/>
        </p:nvPicPr>
        <p:blipFill>
          <a:blip r:embed="rId1"/>
          <a:srcRect l="0" r="0" t="14911" b="14911"/>
          <a:stretch/>
        </p:blipFill>
        <p:spPr>
          <a:xfrm>
            <a:off x="685800" y="1234440"/>
            <a:ext cx="1088136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5715000"/>
            <a:ext cx="10515600" cy="502920"/>
          </a:xfrm>
          <a:prstGeom prst="roundRect">
            <a:avLst>
              <a:gd name="adj" fmla="val 12727"/>
            </a:avLst>
          </a:prstGeom>
          <a:solidFill>
            <a:srgbClr val="F2F7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586130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2238"/>
                </a:solidFill>
              </a:rPr>
              <a:t>设计原则：前端只负责交互与展示；后端统一调度任务；核心算法独立；结果以报告、时间线和文件产物形式沉淀。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后端架构：FastAPI 管接口，Pipeline 服务管状态与执行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重点不是“接口多”，而是让长耗时视频分析可被追踪、取消、重试和恢复。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73152" cy="2103120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581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API 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1947672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videos / media / pipelines / reports / system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66160" y="141732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417320"/>
            <a:ext cx="73152" cy="2103120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1581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任务层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67328" y="1947672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local_thread 或 redis_queue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支持 pending/running/done/failed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141732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417320"/>
            <a:ext cx="73152" cy="2103120"/>
          </a:xfrm>
          <a:prstGeom prst="rect">
            <a:avLst/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1581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服务层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6248" y="1947672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storage / health / task_store / pipeline_views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0" y="141732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1417320"/>
            <a:ext cx="73152" cy="2103120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1581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运行时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45168" y="1947672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uploads / outputs / models / data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可迁移到 AppData 或 .runtime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46120" y="2468880"/>
            <a:ext cx="228600" cy="0"/>
          </a:xfrm>
          <a:prstGeom prst="line">
            <a:avLst/>
          </a:prstGeom>
          <a:noFill/>
          <a:ln w="20320">
            <a:solidFill>
              <a:srgbClr val="D9E2F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35040" y="2468880"/>
            <a:ext cx="228600" cy="0"/>
          </a:xfrm>
          <a:prstGeom prst="line">
            <a:avLst/>
          </a:prstGeom>
          <a:noFill/>
          <a:ln w="20320">
            <a:solidFill>
              <a:srgbClr val="D9E2F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23960" y="2468880"/>
            <a:ext cx="228600" cy="0"/>
          </a:xfrm>
          <a:prstGeom prst="line">
            <a:avLst/>
          </a:prstGeom>
          <a:noFill/>
          <a:ln w="20320">
            <a:solidFill>
              <a:srgbClr val="D9E2F1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2296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238"/>
                </a:solidFill>
              </a:rPr>
              <a:t>当前后端能力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05840" y="4617720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46863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运行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31720" y="4690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/pipelines/run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51960" y="4617720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46863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状态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77840" y="4690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/status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98080" y="4617720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E6A23C"/>
          </a:solidFill>
          <a:ln w="12700">
            <a:solidFill>
              <a:srgbClr val="E6A23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46863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取消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823960" y="4690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/cancel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05840" y="5184648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26C6DA"/>
          </a:solidFill>
          <a:ln w="12700">
            <a:solidFill>
              <a:srgbClr val="26C6D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7280" y="52532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重试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31720" y="5257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/retry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251960" y="5184648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52532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删除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77840" y="5257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DELETE /pipelines/{id}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498080" y="5184648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0" y="52532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帧查询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823960" y="5257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/result/frames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核心算法流程：把“动作视频”转成“可比较的时序特征”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当前方案选择可解释、可落地的工程路线，而不是依赖大规模标注评分数据。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pic>
        <p:nvPicPr>
          <p:cNvPr id="6" name="Image 0" descr="/mnt/data/a_clean_modern_infographic_ui_style_illustratio_batch_2.png">    </p:cNvPr>
          <p:cNvPicPr>
            <a:picLocks noChangeAspect="1"/>
          </p:cNvPicPr>
          <p:nvPr/>
        </p:nvPicPr>
        <p:blipFill>
          <a:blip r:embed="rId1"/>
          <a:srcRect l="13181" r="13181" t="0" b="0"/>
          <a:stretch/>
        </p:blipFill>
        <p:spPr>
          <a:xfrm>
            <a:off x="548640" y="1143000"/>
            <a:ext cx="6400800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0" y="1143000"/>
            <a:ext cx="40690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0" y="1143000"/>
            <a:ext cx="73152" cy="768096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16368" y="13075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① 姿态提取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16368" y="1673352"/>
            <a:ext cx="3703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MediaPipe 关键点 + 置信度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0" y="2112264"/>
            <a:ext cx="40690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0" y="2112264"/>
            <a:ext cx="73152" cy="768096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16368" y="22768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② 质量处理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16368" y="2642616"/>
            <a:ext cx="3703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低置信度过滤、短缺失补全、SG 平滑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315200" y="3081528"/>
            <a:ext cx="40690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0" y="3081528"/>
            <a:ext cx="73152" cy="768096"/>
          </a:xfrm>
          <a:prstGeom prst="rect">
            <a:avLst/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16368" y="32461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③ 归一化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16368" y="3611880"/>
            <a:ext cx="3703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骨盆中心、躯干尺度、镜像处理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315200" y="4050792"/>
            <a:ext cx="40690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0" y="4050792"/>
            <a:ext cx="73152" cy="768096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16368" y="421538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④ 特征融合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516368" y="4581144"/>
            <a:ext cx="3703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关节角、骨向量、速度/加速度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315200" y="5020056"/>
            <a:ext cx="40690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0" y="5020056"/>
            <a:ext cx="73152" cy="768096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16368" y="51846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⑤ 对齐评分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16368" y="5550408"/>
            <a:ext cx="3703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DTW 路径、准确性、节奏偏差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关键方法：DTW 解决“快慢不同但动作相同”的公平比较问题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逐帧比较会把节奏差误判为空间动作错误；DTW 用最优路径建立语义对应。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5D99"/>
                </a:solidFill>
              </a:rPr>
              <a:t>标准动作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4251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7A"/>
                </a:solidFill>
              </a:rPr>
              <a:t>用户动作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1920240"/>
            <a:ext cx="5669280" cy="0"/>
          </a:xfrm>
          <a:prstGeom prst="line">
            <a:avLst/>
          </a:prstGeom>
          <a:noFill/>
          <a:ln w="38100">
            <a:solidFill>
              <a:srgbClr val="1C5D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754880"/>
            <a:ext cx="5669280" cy="0"/>
          </a:xfrm>
          <a:prstGeom prst="line">
            <a:avLst/>
          </a:prstGeom>
          <a:noFill/>
          <a:ln w="38100">
            <a:solidFill>
              <a:srgbClr val="1F9D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057400"/>
            <a:ext cx="-201168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43169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43169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7177" y="2057400"/>
            <a:ext cx="0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3066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54234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17074" y="2057400"/>
            <a:ext cx="201168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62963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1795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6971" y="2057400"/>
            <a:ext cx="-201168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72861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2861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6869" y="2057400"/>
            <a:ext cx="0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82758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03966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46766" y="2057400"/>
            <a:ext cx="521208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2655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11527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56663" y="2057400"/>
            <a:ext cx="118872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02552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02552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2057400"/>
            <a:ext cx="0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5240" y="13258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5240" y="1325880"/>
            <a:ext cx="73152" cy="960120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36408" y="14904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空间准确性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836408" y="18562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对齐后计算关节角、骨向量、归一化坐标误差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635240" y="27889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35240" y="2788920"/>
            <a:ext cx="73152" cy="960120"/>
          </a:xfrm>
          <a:prstGeom prst="rect">
            <a:avLst/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36408" y="29535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节奏偏差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836408" y="3319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利用路径局部斜率识别偏快、偏慢片段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635240" y="42519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35240" y="4251960"/>
            <a:ext cx="73152" cy="960120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36408" y="4416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可解释反馈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836408" y="47823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定位到时间段、关节部位和错误类型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68680" y="571500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DTW 的作用：先建立“哪个时刻对应哪个时刻”，再讨论“动作是否到位”。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前端交互：围绕训练闭环重组页面，而不是堆功能入口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近期迭代将任务、报告、问题回放统一整合进 Records 记录中心。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31720" cy="3291840"/>
          </a:xfrm>
          <a:prstGeom prst="roundRect">
            <a:avLst>
              <a:gd name="adj" fmla="val 5882"/>
            </a:avLst>
          </a:prstGeom>
          <a:solidFill>
            <a:srgbClr val="F8FBFF"/>
          </a:solidFill>
          <a:ln w="10160">
            <a:solidFill>
              <a:srgbClr val="D9E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08760"/>
            <a:ext cx="2331720" cy="502920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6642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Upload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2331720"/>
            <a:ext cx="1874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651760"/>
            <a:ext cx="1417320" cy="0"/>
          </a:xfrm>
          <a:prstGeom prst="line">
            <a:avLst/>
          </a:prstGeom>
          <a:noFill/>
          <a:ln w="17780">
            <a:solidFill>
              <a:srgbClr val="1C5D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2926080"/>
            <a:ext cx="1097280" cy="0"/>
          </a:xfrm>
          <a:prstGeom prst="line">
            <a:avLst/>
          </a:prstGeom>
          <a:noFill/>
          <a:ln w="13970">
            <a:solidFill>
              <a:srgbClr val="B8C4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657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52238"/>
                </a:solidFill>
              </a:rPr>
              <a:t>上传标准/用户视频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52238"/>
                </a:solidFill>
              </a:rPr>
              <a:t>选择分析对象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11880" y="1508760"/>
            <a:ext cx="2331720" cy="3291840"/>
          </a:xfrm>
          <a:prstGeom prst="roundRect">
            <a:avLst>
              <a:gd name="adj" fmla="val 5882"/>
            </a:avLst>
          </a:prstGeom>
          <a:solidFill>
            <a:srgbClr val="F8FBFF"/>
          </a:solidFill>
          <a:ln w="10160">
            <a:solidFill>
              <a:srgbClr val="D9E2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11880" y="1508760"/>
            <a:ext cx="2331720" cy="502920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6472" y="16642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Compare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0" y="2331720"/>
            <a:ext cx="1874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651760"/>
            <a:ext cx="1417320" cy="0"/>
          </a:xfrm>
          <a:prstGeom prst="line">
            <a:avLst/>
          </a:prstGeom>
          <a:noFill/>
          <a:ln w="17780">
            <a:solidFill>
              <a:srgbClr val="26C6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2926080"/>
            <a:ext cx="1097280" cy="0"/>
          </a:xfrm>
          <a:prstGeom prst="line">
            <a:avLst/>
          </a:prstGeom>
          <a:noFill/>
          <a:ln w="13970">
            <a:solidFill>
              <a:srgbClr val="B8C4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3657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52238"/>
                </a:solidFill>
              </a:rPr>
              <a:t>查看对比结果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52238"/>
                </a:solidFill>
              </a:rPr>
              <a:t>骨架/时间轴/帧细节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1508760"/>
            <a:ext cx="2331720" cy="3291840"/>
          </a:xfrm>
          <a:prstGeom prst="roundRect">
            <a:avLst>
              <a:gd name="adj" fmla="val 5882"/>
            </a:avLst>
          </a:prstGeom>
          <a:solidFill>
            <a:srgbClr val="F8FBFF"/>
          </a:solidFill>
          <a:ln w="10160">
            <a:solidFill>
              <a:srgbClr val="D9E2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508760"/>
            <a:ext cx="2331720" cy="502920"/>
          </a:xfrm>
          <a:prstGeom prst="rect">
            <a:avLst/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11112" y="16642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Records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675120" y="2331720"/>
            <a:ext cx="1874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2651760"/>
            <a:ext cx="1417320" cy="0"/>
          </a:xfrm>
          <a:prstGeom prst="line">
            <a:avLst/>
          </a:prstGeom>
          <a:noFill/>
          <a:ln w="17780">
            <a:solidFill>
              <a:srgbClr val="1F9D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926080"/>
            <a:ext cx="1097280" cy="0"/>
          </a:xfrm>
          <a:prstGeom prst="line">
            <a:avLst/>
          </a:prstGeom>
          <a:noFill/>
          <a:ln w="13970">
            <a:solidFill>
              <a:srgbClr val="B8C4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657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52238"/>
                </a:solidFill>
              </a:rPr>
              <a:t>运行中、已完成、异常任务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52238"/>
                </a:solidFill>
              </a:rPr>
              <a:t>记录检索与复盘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281160" y="1508760"/>
            <a:ext cx="2331720" cy="3291840"/>
          </a:xfrm>
          <a:prstGeom prst="roundRect">
            <a:avLst>
              <a:gd name="adj" fmla="val 5882"/>
            </a:avLst>
          </a:prstGeom>
          <a:solidFill>
            <a:srgbClr val="F8FBFF"/>
          </a:solidFill>
          <a:ln w="10160">
            <a:solidFill>
              <a:srgbClr val="D9E2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81160" y="1508760"/>
            <a:ext cx="2331720" cy="502920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45752" y="16642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Settings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509760" y="2331720"/>
            <a:ext cx="1874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92640" y="2651760"/>
            <a:ext cx="1417320" cy="0"/>
          </a:xfrm>
          <a:prstGeom prst="line">
            <a:avLst/>
          </a:prstGeom>
          <a:noFill/>
          <a:ln w="17780">
            <a:solidFill>
              <a:srgbClr val="E6A2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92640" y="2926080"/>
            <a:ext cx="1097280" cy="0"/>
          </a:xfrm>
          <a:prstGeom prst="line">
            <a:avLst/>
          </a:prstGeom>
          <a:noFill/>
          <a:ln w="13970">
            <a:solidFill>
              <a:srgbClr val="B8C4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3657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52238"/>
                </a:solidFill>
              </a:rPr>
              <a:t>系统状态、报告重建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52238"/>
                </a:solidFill>
              </a:rPr>
              <a:t>输出清理与维护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97280" y="53949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前端目标：让用户能完成一次完整训练，而不是只看到算法结果文件。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中期进展：核心闭环已完成，进入测试与优化阶段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对照任务书，当前进度基本覆盖中期检查要求。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899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10789920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813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阶段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80360" y="14813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状态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14813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说明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9476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文献与开题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80360" y="19476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D99"/>
                </a:solidFill>
              </a:rPr>
              <a:t>已完成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09160" y="1947672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开题报告、技术路线、参考文献体系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68680" y="2496312"/>
            <a:ext cx="10469880" cy="0"/>
          </a:xfrm>
          <a:prstGeom prst="line">
            <a:avLst/>
          </a:prstGeom>
          <a:noFill/>
          <a:ln w="7620">
            <a:solidFill>
              <a:srgbClr val="D9E2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6060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核心算法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880360" y="26060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D99"/>
                </a:solidFill>
              </a:rPr>
              <a:t>已完成雏形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09160" y="260604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姿态提取、后处理、特征融合、DTW、评分与报告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868680" y="3154680"/>
            <a:ext cx="10469880" cy="0"/>
          </a:xfrm>
          <a:prstGeom prst="line">
            <a:avLst/>
          </a:prstGeom>
          <a:noFill/>
          <a:ln w="7620">
            <a:solidFill>
              <a:srgbClr val="D9E2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2644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系统功能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880360" y="32644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D99"/>
                </a:solidFill>
              </a:rPr>
              <a:t>已形成闭环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09160" y="326440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上传、运行、状态、结果、报告、系统维护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868680" y="3813048"/>
            <a:ext cx="10469880" cy="0"/>
          </a:xfrm>
          <a:prstGeom prst="line">
            <a:avLst/>
          </a:prstGeom>
          <a:noFill/>
          <a:ln w="7620">
            <a:solidFill>
              <a:srgbClr val="D9E2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92277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工程增强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880360" y="39227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D99"/>
                </a:solidFill>
              </a:rPr>
              <a:t>新增迭代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09160" y="392277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任务取消/重试/删除、超时、失败统计、Redis Worker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868680" y="4471416"/>
            <a:ext cx="10469880" cy="0"/>
          </a:xfrm>
          <a:prstGeom prst="line">
            <a:avLst/>
          </a:prstGeom>
          <a:noFill/>
          <a:ln w="7620">
            <a:solidFill>
              <a:srgbClr val="D9E2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5811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下一阶段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880360" y="45811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D99"/>
                </a:solidFill>
              </a:rPr>
              <a:t>进行中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709160" y="4581144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</a:rPr>
              <a:t>测试样例、指标验证、性能优化、论文初稿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914400" y="55778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5D99"/>
                </a:solidFill>
              </a:rPr>
              <a:t>核心判断：目前不是“只有算法脚本”，而是已经扩展为可运行、可维护、可演示的系统原型。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相较开题方案的迭代：从算法原型走向工程平台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材料是前期版本，当前实现重点更偏“可运行、可追踪、可维护”。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73152" cy="3383280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81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开题阶段设想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1947672"/>
            <a:ext cx="2834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视频上传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MediaPipe 姿态提取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DTW 对齐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准确性/节奏反馈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基础可视化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06240" y="3063240"/>
            <a:ext cx="822960" cy="0"/>
          </a:xfrm>
          <a:prstGeom prst="line">
            <a:avLst/>
          </a:prstGeom>
          <a:noFill/>
          <a:ln w="20320">
            <a:solidFill>
              <a:srgbClr val="26C6D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12080" y="1417320"/>
            <a:ext cx="60807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1417320"/>
            <a:ext cx="73152" cy="3383280"/>
          </a:xfrm>
          <a:prstGeom prst="rect">
            <a:avLst/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3248" y="1581912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当前项目架构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13248" y="1947672"/>
            <a:ext cx="5715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FastAPI 多路由接口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Pipeline 状态机与任务生命周期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本地线程 / Redis 队列双执行路径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Task Store 持久化与报告查询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Records 记录中心 + 系统维护页面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超时、重试、取消、删除、失败统计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5166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8"/>
                </a:solidFill>
              </a:rPr>
              <a:t>迭代价值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88920" y="5102352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52238"/>
                </a:solidFill>
              </a:rPr>
              <a:t>答辩时应主动说明：开题报告提供目标和方法依据，但中期展示以当前仓库实现为准；这是合理迭代，不是偏题。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测试与优化计划：下一阶段必须用数据证明“反馈可信”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系统能跑不等于论文能过；后续要补的是验证、消融和稳定性。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73152" cy="1325880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58191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功能测试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19476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上传/删除/重命名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任务运行/取消/重试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报告查看/帧查询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417320"/>
            <a:ext cx="73152" cy="1325880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58191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算法验证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6248" y="19476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同动作不同速度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关键点抖动/遮挡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关节 Top-K 是否合理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24612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46120"/>
            <a:ext cx="73152" cy="1325880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41071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性能测试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8408" y="37764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单段视频耗时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任务超时与失败恢复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磁盘占用与清理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324612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3246120"/>
            <a:ext cx="73152" cy="1325880"/>
          </a:xfrm>
          <a:prstGeom prst="rect">
            <a:avLst/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341071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用户体验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56248" y="37764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反馈是否能指导纠错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结果是否足够简洁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演示流程是否稳定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5394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238"/>
                </a:solidFill>
              </a:rPr>
              <a:t>测试样例建议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971800" y="5330952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2238"/>
                </a:solidFill>
              </a:rPr>
              <a:t>选择 2–3 段标准动作，每段录制“标准模仿、故意变慢、故意幅度不足、故意错关节”样例，用来验证评分和反馈是否符合预期。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关键风险与应对：提前暴露问题，比被老师问倒更主动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项目的难点不是写页面，而是让评分逻辑在不同视频条件下保持可信。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4545"/>
                </a:solidFill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91640" y="1344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关键点抖动 / 丢点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344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置信度过滤、短缺失插值、SG 平滑、低质量帧降权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1984248"/>
            <a:ext cx="1042416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688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4545"/>
                </a:solidFill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91640" y="2487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DTW 误对齐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487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窗口约束、路径平滑、异常路径指标、必要时分段对齐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127248"/>
            <a:ext cx="1042416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4545"/>
                </a:solidFill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91640" y="3630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评分解释不足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3630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输出时间段、关节部位、节奏偏差，而不只给总分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4270248"/>
            <a:ext cx="1042416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548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4545"/>
                </a:solidFill>
              </a:rPr>
              <a:t>04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9164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工程稳定性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任务状态机、超时、重试、失败统计、系统健康检查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22960" y="5413248"/>
            <a:ext cx="1042416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80644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5D99"/>
                </a:solidFill>
              </a:rPr>
              <a:t>导师可能追问：你的评分是否客观？回答重点：本科阶段不声称替代教师，而是提供可解释的辅助反馈，并通过对比样例验证趋势合理性。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后续计划：从“能演示”推进到“能论证”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4月下旬到5月底重点完成测试优化与论文初稿。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901952" cy="20574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488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5D99"/>
                </a:solidFill>
              </a:rPr>
              <a:t>4.27–5.05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2651760"/>
            <a:ext cx="1261872" cy="0"/>
          </a:xfrm>
          <a:prstGeom prst="line">
            <a:avLst/>
          </a:prstGeom>
          <a:noFill/>
          <a:ln w="17780">
            <a:solidFill>
              <a:srgbClr val="26C6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8803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整理演示样例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固定测试视频集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2999232" y="1920240"/>
            <a:ext cx="1901952" cy="20574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1488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5D99"/>
                </a:solidFill>
              </a:rPr>
              <a:t>5.06–5.15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19272" y="2651760"/>
            <a:ext cx="1261872" cy="0"/>
          </a:xfrm>
          <a:prstGeom prst="line">
            <a:avLst/>
          </a:prstGeom>
          <a:noFill/>
          <a:ln w="17780">
            <a:solidFill>
              <a:srgbClr val="26C6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28803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补全实验指标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优化评分与可视化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5266944" y="1920240"/>
            <a:ext cx="1901952" cy="20574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1488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5D99"/>
                </a:solidFill>
              </a:rPr>
              <a:t>5.16–5.25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86984" y="2651760"/>
            <a:ext cx="1261872" cy="0"/>
          </a:xfrm>
          <a:prstGeom prst="line">
            <a:avLst/>
          </a:prstGeom>
          <a:noFill/>
          <a:ln w="17780">
            <a:solidFill>
              <a:srgbClr val="26C6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28803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系统稳定性测试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完善异常处理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7534656" y="1920240"/>
            <a:ext cx="1901952" cy="20574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44384" y="21488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5D99"/>
                </a:solidFill>
              </a:rPr>
              <a:t>5.26–5.31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54696" y="2651760"/>
            <a:ext cx="1261872" cy="0"/>
          </a:xfrm>
          <a:prstGeom prst="line">
            <a:avLst/>
          </a:prstGeom>
          <a:noFill/>
          <a:ln w="17780">
            <a:solidFill>
              <a:srgbClr val="26C6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9248" y="28803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论文初稿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结果图表与总结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9802368" y="1920240"/>
            <a:ext cx="1901952" cy="20574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12096" y="21488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5D99"/>
                </a:solidFill>
              </a:rPr>
              <a:t>6.01–6.07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22408" y="2651760"/>
            <a:ext cx="1261872" cy="0"/>
          </a:xfrm>
          <a:prstGeom prst="line">
            <a:avLst/>
          </a:prstGeom>
          <a:noFill/>
          <a:ln w="17780">
            <a:solidFill>
              <a:srgbClr val="26C6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28803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论文修改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终期答辩材料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最终交付：代码仓库、可运行系统、测试结果、毕业论文、答辩演示与操作说明。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阶段性结论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中期答辩要收束成三个判断。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3063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00200"/>
            <a:ext cx="73152" cy="2194560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7647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方向成立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2130552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课题围绕舞蹈自学反馈痛点，具备明确应用场景。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17720" y="1600200"/>
            <a:ext cx="3063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600200"/>
            <a:ext cx="73152" cy="2194560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7647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路线可行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18888" y="2130552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MediaPipe + DTW + 可解释指标，适合本科毕设工程落地。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600200"/>
            <a:ext cx="3063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600200"/>
            <a:ext cx="73152" cy="2194560"/>
          </a:xfrm>
          <a:prstGeom prst="rect">
            <a:avLst/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17647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系统成型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22208" y="2130552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当前已形成前后端、任务调度、分析 pipeline、报告展示的完整闭环。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1560" y="4754880"/>
            <a:ext cx="10058400" cy="777240"/>
          </a:xfrm>
          <a:prstGeom prst="roundRect">
            <a:avLst>
              <a:gd name="adj" fmla="val 1411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5001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下一阶段重点：用测试数据和论文实验把“系统能跑”转化为“方案可信”。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0574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谢谢各位老师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206240" y="2926080"/>
            <a:ext cx="3749040" cy="0"/>
          </a:xfrm>
          <a:prstGeom prst="line">
            <a:avLst/>
          </a:prstGeom>
          <a:noFill/>
          <a:ln w="30480">
            <a:solidFill>
              <a:srgbClr val="26C6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337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D5E7FF"/>
                </a:solidFill>
              </a:rPr>
              <a:t>欢迎批评指正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77240" y="6263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7EA"/>
                </a:solidFill>
              </a:rPr>
              <a:t>李海威 · 通信工程2204 · 基于视频分析的舞蹈学习辅助平台设计与开发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信息工程学院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基于视频分析的舞蹈学习辅助平台设计与开发</dc:title>
  <dc:subject>基于视频分析的舞蹈学习辅助平台设计与开发 中期答辩</dc:subject>
  <dc:creator>李海威</dc:creator>
  <cp:lastModifiedBy>李海威</cp:lastModifiedBy>
  <cp:revision>1</cp:revision>
  <dcterms:created xsi:type="dcterms:W3CDTF">2026-04-24T17:14:45Z</dcterms:created>
  <dcterms:modified xsi:type="dcterms:W3CDTF">2026-04-24T17:14:45Z</dcterms:modified>
</cp:coreProperties>
</file>